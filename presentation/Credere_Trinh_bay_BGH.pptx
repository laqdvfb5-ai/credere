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nhóm em xin trình bày Credere: bản thử trợ lý AI cho tuyển sinh, đào tạo và công việc tổng hợp của lãnh đạo. Điểm nhóm muốn chứng minh hôm nay là một yêu cầu có thể được giao cho các AI lĩnh vực, kiểm tra rồi ghép thành kết quả có căn cứ. Văn bản trong kho là tài liệu công khai; số liệu nội bộ dùng trong demo là dữ liệu giả lập.</a:t>
            </a:r>
          </a:p>
          <a:p/>
          <a:p>
            <a:r>
              <a:t>Căn cứ (dành cho người trình bày):</a:t>
            </a:r>
          </a:p>
          <a:p>
            <a:r>
              <a:t>backend/app/apps.py:117</a:t>
            </a:r>
          </a:p>
          <a:p>
            <a:r>
              <a:t>CONTENT_FACTS.json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Hiệu trưởng muốn biết ngành nào đang thiếu chỉ tiêu và ở những ngành đó sinh viên các khóa trước học tập ra sao. Một phần dữ liệu nằm ở Tuyển sinh, phần khác ở Đào tạo. Muốn ghép được phải thống nhất ngành, khóa, thời điểm và cách tính. Đây là tình huống đã có trong hồ sơ chạy của bản thử, không phải số liệu tình hình thật của Trường.</a:t>
            </a:r>
          </a:p>
          <a:p/>
          <a:p>
            <a:r>
              <a:t>Căn cứ (dành cho người trình bày):</a:t>
            </a:r>
          </a:p>
          <a:p>
            <a:r>
              <a:t>C:/Users/laqdv/.credere/runs/demo-tuyen-sinh/hieu_truong--nganh-nao-dang-thieu-nhieu-chi-tieu-tuyen-sinh-nam-2026-nhat-voi-cac-nganh-do-ty-le-sinh-vien-bi-canh-bao-hoc-vu-va-roi-.json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Tuyển sinh có 70 văn bản công khai và 19 truy vấn dữ liệu định sẵn. AI Đào tạo có 36 văn bản và 17 truy vấn. Cả hai cơ sở dữ liệu nghiệp vụ hiện đều giả lập. AI Tổng hợp phục vụ Hiệu trưởng, biết năng lực của các AI con để giao việc và kiểm tra báo cáo. Con số 106 văn bản, 36 truy vấn trên giao diện Tổng hợp là tổng năng lực của hai AI con, không phải toàn bộ kho được đưa vào AI Tổng hợp.</a:t>
            </a:r>
          </a:p>
          <a:p/>
          <a:p>
            <a:r>
              <a:t>Căn cứ (dành cho người trình bày):</a:t>
            </a:r>
          </a:p>
          <a:p>
            <a:r>
              <a:t>backend/app/apps.py:117</a:t>
            </a:r>
          </a:p>
          <a:p>
            <a:r>
              <a:t>backend/app/web.py:97</a:t>
            </a:r>
          </a:p>
          <a:p>
            <a:r>
              <a:t>CONTENT_FACTS.json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code hiện tại, AI Tổng hợp có danh sách tài liệu rỗng, không gắn cơ sở dữ liệu trực tiếp. Nó được giới thiệu năng lực của các AI con, rồi giao yêu cầu cho từng AI. Mỗi AI con tự lập kế hoạch, tra cứu hoặc truy vấn và nghiệm thu riêng. Cấp trên nhận báo cáo cùng số liệu đã nghiệm thu, có thể giao tác tử Phân tích tính tiếp, rồi đối chiếu và tổng hợp. Các agent có luồng và ngữ cảnh riêng, có thể dùng cùng họ model; không cần hiểu là ba mô hình được huấn luyện riêng. Câu hỏi một lĩnh vực có thể chỉ gọi một AI con; bước Phân tích riêng chỉ xuất hiện khi cần.</a:t>
            </a:r>
          </a:p>
          <a:p/>
          <a:p>
            <a:r>
              <a:t>Căn cứ (dành cho người trình bày):</a:t>
            </a:r>
          </a:p>
          <a:p>
            <a:r>
              <a:t>backend/app/apps.py:128</a:t>
            </a:r>
          </a:p>
          <a:p>
            <a:r>
              <a:t>backend/app/apps.py:89</a:t>
            </a:r>
          </a:p>
          <a:p>
            <a:r>
              <a:t>backend/app/workers.py:234</a:t>
            </a:r>
          </a:p>
          <a:p>
            <a:r>
              <a:t>backend/app/graph.py:223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ghi lúc 02 giờ 51 ngày 29 tháng 9 cho thấy T1 Tuyển sinh và T2 Đào tạo được giao trong cùng một đợt, khoảng giây 40. Cả hai có kế hoạch riêng. T3 Phân tích khai báo phụ thuộc T1 và T2, chỉ được giao khi hai kết quả đã đạt, khoảng phút 4 giây 13. Sau đó AI Tổng hợp viết câu trả lời. Tổng 18 lượt gọi dịch vụ AI: Tuyển sinh 8, Đào tạo 4, cấp trên gồm phân tích và tổng hợp 6. Đây là minh chứng luồng phối hợp, không phải chứng nhận toàn bộ nội dung luôn chính xác.</a:t>
            </a:r>
          </a:p>
          <a:p/>
          <a:p>
            <a:r>
              <a:t>Căn cứ (dành cho người trình bày):</a:t>
            </a:r>
          </a:p>
          <a:p>
            <a:r>
              <a:t>C:/Users/laqdv/.credere/runs/demo-tuyen-sinh/hieu_truong--nganh-nao-dang-thieu-nhieu-chi-tieu-tuyen-sinh-nam-2026-nhat-voi-cac-nganh-do-ty-le-sinh-vien-bi-canh-bao-hoc-vu-va-roi-.json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giao diện hiện tại. Bên trái chọn trợ lý, ở giữa nhập yêu cầu, bên phải theo dõi các bước. Kho tài liệu cho tìm theo tên hoặc mã. Nguồn trong câu trả lời mở được văn bản gốc khi có đường dẫn; bảng dữ liệu có thể tải CSV. Câu nhập tay và gợi ý đều chạy mới, giao diện chính không còn lựa chọn phát lại. Việc đổi trợ lý ở đây chưa phải đăng nhập hay phân quyền người dùng.</a:t>
            </a:r>
          </a:p>
          <a:p/>
          <a:p>
            <a:r>
              <a:t>Căn cứ (dành cho người trình bày):</a:t>
            </a:r>
          </a:p>
          <a:p>
            <a:r>
              <a:t>backend/app/pages/index.html</a:t>
            </a:r>
          </a:p>
          <a:p>
            <a:r>
              <a:t>shots/current/welcome-principal.png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sang trình duyệt tại http://127.0.0.1:8001, chọn AI Tổng hợp. Nhập đúng câu hỏi trên slide. Đây là chạy mới nên có sử dụng dịch vụ AI, thời gian thay đổi; lượt mẫu đã lưu mất khoảng 4 phút 47 giây. Trong lúc chờ, giải thích kế hoạch và chỉ rõ việc giao cho Tuyển sinh, Đào tạo, bước phân tích sau khi các đầu vào đạt. Khi có kết quả, mở tab Nguồn đã dẫn và nhắc số liệu nghiệp vụ là giả lập. Không đọc số liệu như báo cáo thật của Trường. Nếu dịch vụ lỗi hoặc quá thời gian, chuyển phụ lục B1 và nói rõ đó là ảnh của lượt chạy đã lưu. Nếu trang tự dùng kết quả đã lưu, thông báo đó phải được nói rõ; không giới thiệu là kết quả vừa tính. Không dùng thao tác Shift+bấm hay tìm nút Bản ghi: các thao tác chọn chế độ này đã bỏ.</a:t>
            </a:r>
          </a:p>
          <a:p/>
          <a:p>
            <a:r>
              <a:t>Căn cứ (dành cho người trình bày):</a:t>
            </a:r>
          </a:p>
          <a:p>
            <a:r>
              <a:t>C:/Users/laqdv/.credere/runs/demo-tuyen-sinh/hieu_truong--nganh-nao-dang-thieu-nhieu-chi-tieu-tuyen-sinh-nam-2026-nhat-voi-cac-nganh-do-ty-le-sinh-vien-bi-canh-bao-hoc-vu-va-roi-.json</a:t>
            </a:r>
          </a:p>
          <a:p>
            <a:r>
              <a:t>backend/app/pages/index.html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này lấy từ lượt chạy đã lưu trên bộ dữ liệu giả lập. AI Tuyển sinh truy vấn số xác nhận nhập học và phần chỉ tiêu còn lại theo ngành. Cán bộ nhận bảng tổng hợp cùng mốc dữ liệu để tiếp tục đối chiếu. Truy vấn được chọn từ danh mục có sẵn, số đếm do cơ sở dữ liệu thực hiện. Giá trị ở đây là gom một công việc nghiệp vụ thành một luồng kiểm tra được; chưa có số đo độc lập về phần trăm thời gian tiết kiệm.</a:t>
            </a:r>
          </a:p>
          <a:p/>
          <a:p>
            <a:r>
              <a:t>Căn cứ (dành cho người trình bày):</a:t>
            </a:r>
          </a:p>
          <a:p>
            <a:r>
              <a:t>backend/app/domains/tuyen_sinh_queries.py</a:t>
            </a:r>
          </a:p>
          <a:p>
            <a:r>
              <a:t>shots/current/screenshots.json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Đào tạo có quy chế, chương trình và bộ dữ liệu học vụ giả lập riêng. Ví dụ này tổng hợp cảnh báo theo ngành và khóa. Một tỷ lệ chỉ có ý nghĩa khi nêu đúng mẫu số, đúng học kỳ và phạm vi. Vì vậy cán bộ cần kiểm tra cả bảng và nguồn, không chỉ nhìn một con số lớn. Các truy vấn hiện còn giả định và mốc cố định của bản thử; trước khi nối dữ liệu thật cần hiệu chỉnh với Phòng Đào tạo.</a:t>
            </a:r>
          </a:p>
          <a:p/>
          <a:p>
            <a:r>
              <a:t>Căn cứ (dành cho người trình bày):</a:t>
            </a:r>
          </a:p>
          <a:p>
            <a:r>
              <a:t>backend/app/domains/dao_tao_queries.py</a:t>
            </a:r>
          </a:p>
          <a:p>
            <a:r>
              <a:t>shots/current/screenshots.json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luồng truy vấn hiện tại, model chọn tên truy vấn và tham số; nó không được tự viết SQL để chạy. Cơ sở dữ liệu mở chỉ đọc. Với truy vấn danh sách cá nhân, phần gửi model là số lượng và thống kê; bảng chi tiết đi tới giao diện. Điều này chưa phải lời đảm bảo mọi dữ liệu cá nhân không thể ra ngoài: hệ thống vẫn cần đăng nhập, phân quyền nghiệp vụ và kiểm tra từng luồng khi nối dữ liệu thật. Demo hôm nay chỉ dùng người và hồ sơ giả lập.</a:t>
            </a:r>
          </a:p>
          <a:p/>
          <a:p>
            <a:r>
              <a:t>Căn cứ (dành cho người trình bày):</a:t>
            </a:r>
          </a:p>
          <a:p>
            <a:r>
              <a:t>backend/app/tools/data.py:64</a:t>
            </a:r>
          </a:p>
          <a:p>
            <a:r>
              <a:t>backend/app/tools/data.py:113</a:t>
            </a:r>
          </a:p>
          <a:p>
            <a:r>
              <a:t>backend/app/contracts.py:64</a:t>
            </a:r>
          </a:p>
          <a:p>
            <a:r>
              <a:t>backend/app/workers.py:187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159 kiểm thử phần mềm đã qua trong lần kiểm tra cục bộ ngày 29 tháng 9, bao gồm luồng điều phối, lỗi, truy vấn và khóa cài đặt. Đó không phải 159 câu hỏi nghiệp vụ với model thật. Các tệp kết quả đã lưu cho thấy 30 trên 30 câu văn bản tuyển sinh, 14 trên 14 câu dữ liệu tuyển sinh giả lập, 10 trên 10 câu Đào tạo và 4 trên 4 câu Tổng hợp đạt bộ chấm nội bộ. Các bộ này đã dùng trong quá trình phát triển; bộ chấm còn thiên về số và mã nguồn xuất hiện. Vì vậy không suy thành độ chính xác 100% khi dùng thật. Bước tiếp theo phải có câu hỏi mới và người nghiệp vụ chấm độc lập.</a:t>
            </a:r>
          </a:p>
          <a:p/>
          <a:p>
            <a:r>
              <a:t>Căn cứ (dành cho người trình bày):</a:t>
            </a:r>
          </a:p>
          <a:p>
            <a:r>
              <a:t>CONTENT_FACTS.json:software_verification</a:t>
            </a:r>
          </a:p>
          <a:p>
            <a:r>
              <a:t>CONTENT_FACTS.json:limited_evaluations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đã có giao diện, ba trợ lý, nguồn dẫn, truy vấn chỉ đọc, theo dõi công việc và mật khẩu cho trang cài đặt. Mật khẩu cài đặt chỉ bảo vệ cấu hình kết nối; nó không thay thế đăng nhập và phân quyền cho từng phòng ban. Hiện chưa nối cơ sở dữ liệu nghiệp vụ thật, chưa phục hồi công việc đang chạy sau khi tiến trình sập và chưa có cơ chế hủy hoàn chỉnh. Vì vậy đề nghị bước thử nghiệm nhỏ có kiểm soát, chưa đề nghị mở dùng toàn trường.</a:t>
            </a:r>
          </a:p>
          <a:p/>
          <a:p>
            <a:r>
              <a:t>Căn cứ (dành cho người trình bày):</a:t>
            </a:r>
          </a:p>
          <a:p>
            <a:r>
              <a:t>CONTENT_FACTS.json:current_boundaries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 phí đang nói là ước tính từ mức dùng và bảng giá cấu hình tại thời điểm chạy, không phải báo giá dịch vụ hiện tại. Trong bộ 14 câu dữ liệu tuyển sinh đã lưu, trung bình khoảng 0,026 đô la, xấp xỉ 700 đồng; thời gian trung vị khoảng 43 giây. Riêng câu Tổng hợp liên lĩnh vực đã trình bày, ước tính 0,265 đô la, khoảng 6.900 đồng và mất 4 phút 47 giây. Không lấy hai con số này để cam kết chi phí mỗi câu hay suy ra kinh phí toàn trường. Khi pilot cần đo trên công việc thật, theo dõi cả chất lượng và chi phí.</a:t>
            </a:r>
          </a:p>
          <a:p/>
          <a:p>
            <a:r>
              <a:t>Căn cứ (dành cho người trình bày):</a:t>
            </a:r>
          </a:p>
          <a:p>
            <a:r>
              <a:t>CONTENT_FACTS.json:limited_evaluations</a:t>
            </a:r>
          </a:p>
          <a:p>
            <a:r>
              <a:t>CONTENT_FACTS.json:principal_example</a:t>
            </a:r>
          </a:p>
          <a:p>
            <a:r>
              <a:t>backend/app/config.py:PRICE_DATE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đề nghị đi theo ba bước có điều kiện hoàn thành. Trước hết chọn một số công việc và đầu mối nghiệp vụ, xác định dữ liệu được phép dùng. Sau đó bổ sung phân quyền, phục hồi và nối bản sao chỉ đọc trong phạm vi được duyệt. Cuối cùng dùng câu hỏi mới, so với đáp án cán bộ, đo thời gian và chi phí. Chỉ mở rộng khi đạt các tiêu chí đã thống nhất. Đây là trình tự đề xuất; thời gian cụ thể phụ thuộc dữ liệu, hạ tầng và người nghiệm thu.</a:t>
            </a:r>
          </a:p>
          <a:p/>
          <a:p>
            <a:r>
              <a:t>Căn cứ (dành cho người trình bày):</a:t>
            </a:r>
          </a:p>
          <a:p>
            <a:r>
              <a:t>PLAN.md</a:t>
            </a:r>
          </a:p>
          <a:p>
            <a:r>
              <a:t>DATA_PLAN.md</a:t>
            </a:r>
          </a:p>
          <a:p>
            <a:r>
              <a:t>CONTENT_FACTS.json:current_boundaries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xin đề nghị ba việc. Một, cử đầu mối Tuyển sinh và Đào tạo để chọn công việc đáng làm và kiểm tra kết quả. Hai, thống nhất một tập dữ liệu được phép dùng và cách tạo bản sao chỉ đọc; chuẩn bị tài khoản dịch vụ AI do Trường quản lý trước khi dùng dữ liệu thật. Ba, cung cấp một bộ câu hỏi mới cùng đáp án hoặc tiêu chí để nghiệm thu độc lập. Nhóm sẽ báo lại những gì làm được, những gì chưa đạt, thời gian và chi phí đo thực tế. Em xin cảm ơn quý thầy cô. Công việc nào của đơn vị nên được chọn để thử đầu tiên?</a:t>
            </a:r>
          </a:p>
          <a:p/>
          <a:p>
            <a:r>
              <a:t>Căn cứ (dành cho người trình bày):</a:t>
            </a:r>
          </a:p>
          <a:p>
            <a:r>
              <a:t>DATA_PLAN.md</a:t>
            </a:r>
          </a:p>
          <a:p>
            <a:r>
              <a:t>PLAN.md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dùng khi không chạy được demo hoặc cần xem lại kết quả. Đây là ảnh giao diện hiện tại đang hiển thị kết quả của lượt chạy đã lưu lúc 02:51 ngày 29/9/2026. Số liệu nội bộ là giả lập; không trình bày đây là báo cáo thật hay kết quả vừa chạy. Bản ghi nêu ngành Kế toán và có các giới hạn về mẫu số, phạm vi dữ liệu. Chỉ vào cả phần bảng lẫn phần lưu ý, không chỉ đọc kết luận.</a:t>
            </a:r>
          </a:p>
          <a:p/>
          <a:p>
            <a:r>
              <a:t>Căn cứ (dành cho người trình bày):</a:t>
            </a:r>
          </a:p>
          <a:p>
            <a:r>
              <a:t>C:/Users/laqdv/.credere/runs/demo-tuyen-sinh/hieu_truong--nganh-nao-dang-thieu-nhieu-chi-tieu-tuyen-sinh-nam-2026-nhat-voi-cac-nganh-do-ty-le-sinh-vien-bi-canh-bao-hoc-vu-va-roi-.json</a:t>
            </a:r>
          </a:p>
          <a:p>
            <a:r>
              <a:t>shots/current/answer-principal.png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Tổng hợp lúc lập kế hoạch chỉ biết yêu cầu và mô tả năng lực AI con, gồm loại số liệu có thể truy vấn. Khi AI con làm xong, nó nhận báo cáo, nhận định có mã nguồn và các kết quả có cấu trúc đã nghiệm thu. Nó không được truyền toàn bộ nội dung tài liệu hay cơ sở dữ liệu của hai AI con. Tác tử phân tích tính trên các đầu vào đã được trả về. Đây là cách nối dữ liệu trong luồng ứng dụng, chưa phải ranh giới cách ly hạ tầng hay phân quyền người dùng hoàn chỉnh. Cùng một model có thể đóng nhiều vai với các ngữ cảnh và lời gọi riêng.</a:t>
            </a:r>
          </a:p>
          <a:p/>
          <a:p>
            <a:r>
              <a:t>Căn cứ (dành cho người trình bày):</a:t>
            </a:r>
          </a:p>
          <a:p>
            <a:r>
              <a:t>backend/app/apps.py:82</a:t>
            </a:r>
          </a:p>
          <a:p>
            <a:r>
              <a:t>backend/app/apps.py:128</a:t>
            </a:r>
          </a:p>
          <a:p>
            <a:r>
              <a:t>backend/app/workers.py:234</a:t>
            </a:r>
          </a:p>
          <a:p>
            <a:r>
              <a:t>backend/app/graph.py:223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số liệu và giới hạn trong bài được tổng hợp trong CONTENT_FACTS.json, có đường dẫn nguồn cho từng nhận định. Ảnh chụp và metadata nằm trong shots/current. Bản ghi minh chứng có kế hoạch riêng của hai AI con, thứ tự giao việc và 18 lời gọi AI. Kết quả bộ thử nghiệp vụ là tệp đã lưu; lượt làm lại slide này không gọi model thật hoặc chạy lại bộ đánh giá có phí. File PowerPoint chứa lời nói và nguồn trong phần Notes. Kịch bản Markdown đi kèm ghi rõ cách demo và xử lý tình huống dự phòng.</a:t>
            </a:r>
          </a:p>
          <a:p/>
          <a:p>
            <a:r>
              <a:t>Căn cứ (dành cho người trình bày):</a:t>
            </a:r>
          </a:p>
          <a:p>
            <a:r>
              <a:t>CONTENT_FACTS.json</a:t>
            </a:r>
          </a:p>
          <a:p>
            <a:r>
              <a:t>shots/current/screenshots.json</a:t>
            </a:r>
          </a:p>
          <a:p>
            <a:r>
              <a:t>KICH_BAN_TRINH_BAY.md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98B5E7"/>
                </a:solidFill>
                <a:latin typeface="Segoe UI"/>
              </a:rPr>
              <a:t>BẢN DEMO CẬP NHẬT</a:t>
            </a:r>
          </a:p>
        </p:txBody>
      </p:sp>
      <p:sp>
        <p:nvSpPr>
          <p:cNvPr id="6" name="TextBox 5"/>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AFBFDA"/>
                </a:solidFill>
                <a:latin typeface="Segoe UI"/>
              </a:rPr>
              <a:t>Credere · Bản thử nghiệm nghiệp vụ</a:t>
            </a:r>
          </a:p>
        </p:txBody>
      </p:sp>
      <p:sp>
        <p:nvSpPr>
          <p:cNvPr id="7" name="TextBox 6"/>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AFBFDA"/>
                </a:solidFill>
                <a:latin typeface="Segoe UI"/>
              </a:rPr>
              <a:t>01</a:t>
            </a:r>
          </a:p>
        </p:txBody>
      </p:sp>
      <p:sp>
        <p:nvSpPr>
          <p:cNvPr id="8" name="TextBox 7"/>
          <p:cNvSpPr txBox="1"/>
          <p:nvPr/>
        </p:nvSpPr>
        <p:spPr>
          <a:xfrm>
            <a:off x="658368" y="1609344"/>
            <a:ext cx="6675120" cy="2377440"/>
          </a:xfrm>
          <a:prstGeom prst="rect">
            <a:avLst/>
          </a:prstGeom>
          <a:noFill/>
        </p:spPr>
        <p:txBody>
          <a:bodyPr wrap="square" anchor="t" lIns="22860" rIns="22860" tIns="22860" bIns="22860">
            <a:spAutoFit/>
          </a:bodyPr>
          <a:lstStyle/>
          <a:p>
            <a:pPr algn="l">
              <a:lnSpc>
                <a:spcPct val="110000"/>
              </a:lnSpc>
              <a:spcAft>
                <a:spcPts val="500"/>
              </a:spcAft>
            </a:pPr>
            <a:r>
              <a:rPr sz="4500" b="1">
                <a:solidFill>
                  <a:srgbClr val="FFFFFF"/>
                </a:solidFill>
                <a:latin typeface="Segoe UI"/>
              </a:rPr>
              <a:t>Một câu hỏi.</a:t>
            </a:r>
          </a:p>
          <a:p>
            <a:pPr algn="l">
              <a:lnSpc>
                <a:spcPct val="110000"/>
              </a:lnSpc>
              <a:spcAft>
                <a:spcPts val="500"/>
              </a:spcAft>
            </a:pPr>
            <a:r>
              <a:rPr sz="4500" b="1">
                <a:solidFill>
                  <a:srgbClr val="FFFFFF"/>
                </a:solidFill>
                <a:latin typeface="Segoe UI"/>
              </a:rPr>
              <a:t>Nhiều AI cùng làm.</a:t>
            </a:r>
          </a:p>
        </p:txBody>
      </p:sp>
      <p:sp>
        <p:nvSpPr>
          <p:cNvPr id="9" name="TextBox 8"/>
          <p:cNvSpPr txBox="1"/>
          <p:nvPr/>
        </p:nvSpPr>
        <p:spPr>
          <a:xfrm>
            <a:off x="694944" y="3794760"/>
            <a:ext cx="5943600" cy="1024128"/>
          </a:xfrm>
          <a:prstGeom prst="rect">
            <a:avLst/>
          </a:prstGeom>
          <a:noFill/>
        </p:spPr>
        <p:txBody>
          <a:bodyPr wrap="square" anchor="t" lIns="22860" rIns="22860" tIns="22860" bIns="22860">
            <a:spAutoFit/>
          </a:bodyPr>
          <a:lstStyle/>
          <a:p>
            <a:pPr algn="l">
              <a:lnSpc>
                <a:spcPct val="110000"/>
              </a:lnSpc>
              <a:spcAft>
                <a:spcPts val="500"/>
              </a:spcAft>
            </a:pPr>
            <a:r>
              <a:rPr sz="2400" b="0">
                <a:solidFill>
                  <a:srgbClr val="AFBFDA"/>
                </a:solidFill>
                <a:latin typeface="Segoe UI"/>
              </a:rPr>
              <a:t>Trợ lý nghiệp vụ cho tuyển sinh,</a:t>
            </a:r>
          </a:p>
          <a:p>
            <a:pPr algn="l">
              <a:lnSpc>
                <a:spcPct val="110000"/>
              </a:lnSpc>
              <a:spcAft>
                <a:spcPts val="500"/>
              </a:spcAft>
            </a:pPr>
            <a:r>
              <a:rPr sz="2400" b="0">
                <a:solidFill>
                  <a:srgbClr val="AFBFDA"/>
                </a:solidFill>
                <a:latin typeface="Segoe UI"/>
              </a:rPr>
              <a:t>đào tạo và điều hành nhà trường.</a:t>
            </a:r>
          </a:p>
        </p:txBody>
      </p:sp>
      <p:sp>
        <p:nvSpPr>
          <p:cNvPr id="10" name="Rounded Rectangle 9"/>
          <p:cNvSpPr/>
          <p:nvPr/>
        </p:nvSpPr>
        <p:spPr>
          <a:xfrm>
            <a:off x="731520" y="5404104"/>
            <a:ext cx="4069080" cy="310896"/>
          </a:xfrm>
          <a:prstGeom prst="roundRect">
            <a:avLst>
              <a:gd name="adj" fmla="val 20000"/>
            </a:avLst>
          </a:prstGeom>
          <a:solidFill>
            <a:srgbClr val="283D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13816" y="5426964"/>
            <a:ext cx="3904488" cy="228600"/>
          </a:xfrm>
          <a:prstGeom prst="rect">
            <a:avLst/>
          </a:prstGeom>
          <a:noFill/>
        </p:spPr>
        <p:txBody>
          <a:bodyPr wrap="square" anchor="t" lIns="22860" rIns="22860" tIns="22860" bIns="22860">
            <a:spAutoFit/>
          </a:bodyPr>
          <a:lstStyle/>
          <a:p>
            <a:pPr algn="l">
              <a:lnSpc>
                <a:spcPct val="110000"/>
              </a:lnSpc>
              <a:spcAft>
                <a:spcPts val="0"/>
              </a:spcAft>
            </a:pPr>
            <a:r>
              <a:rPr sz="1000" b="1">
                <a:solidFill>
                  <a:srgbClr val="CFDDF2"/>
                </a:solidFill>
                <a:latin typeface="Segoe UI"/>
              </a:rPr>
              <a:t>BẢN THỬ · VĂN BẢN CÔNG KHAI + SỐ LIỆU GIẢ LẬP</a:t>
            </a:r>
          </a:p>
        </p:txBody>
      </p:sp>
      <p:sp>
        <p:nvSpPr>
          <p:cNvPr id="12" name="Rounded Rectangle 11"/>
          <p:cNvSpPr/>
          <p:nvPr/>
        </p:nvSpPr>
        <p:spPr>
          <a:xfrm>
            <a:off x="7772400" y="1719072"/>
            <a:ext cx="3474720" cy="1133856"/>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7790688" y="1837943"/>
            <a:ext cx="41148" cy="896112"/>
          </a:xfrm>
          <a:prstGeom prst="rect">
            <a:avLst/>
          </a:prstGeom>
          <a:solidFill>
            <a:srgbClr val="8BAD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936992" y="1828800"/>
            <a:ext cx="3145536"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FFFFFF"/>
                </a:solidFill>
                <a:latin typeface="Segoe UI"/>
              </a:rPr>
              <a:t>AI Tổng hợp</a:t>
            </a:r>
          </a:p>
        </p:txBody>
      </p:sp>
      <p:sp>
        <p:nvSpPr>
          <p:cNvPr id="15" name="TextBox 14"/>
          <p:cNvSpPr txBox="1"/>
          <p:nvPr/>
        </p:nvSpPr>
        <p:spPr>
          <a:xfrm>
            <a:off x="7936992" y="2304288"/>
            <a:ext cx="3145536" cy="475488"/>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AFBFDA"/>
                </a:solidFill>
                <a:latin typeface="Segoe UI"/>
              </a:rPr>
              <a:t>Giao việc · đối chiếu · tổng hợp</a:t>
            </a:r>
          </a:p>
        </p:txBody>
      </p:sp>
      <p:cxnSp>
        <p:nvCxnSpPr>
          <p:cNvPr id="16" name="Connector 15"/>
          <p:cNvCxnSpPr/>
          <p:nvPr/>
        </p:nvCxnSpPr>
        <p:spPr>
          <a:xfrm flipH="1">
            <a:off x="7443216" y="2313432"/>
            <a:ext cx="329184" cy="0"/>
          </a:xfrm>
          <a:prstGeom prst="line">
            <a:avLst/>
          </a:prstGeom>
          <a:ln w="2032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7443216" y="2313432"/>
            <a:ext cx="0" cy="2834640"/>
          </a:xfrm>
          <a:prstGeom prst="line">
            <a:avLst/>
          </a:prstGeom>
          <a:ln w="2032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443216" y="3840480"/>
            <a:ext cx="329184" cy="0"/>
          </a:xfrm>
          <a:prstGeom prst="line">
            <a:avLst/>
          </a:prstGeom>
          <a:ln w="20320">
            <a:solidFill>
              <a:srgbClr val="8BADE6"/>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7443216" y="5148072"/>
            <a:ext cx="329184" cy="0"/>
          </a:xfrm>
          <a:prstGeom prst="line">
            <a:avLst/>
          </a:prstGeom>
          <a:ln w="20320">
            <a:solidFill>
              <a:srgbClr val="8BADE6"/>
            </a:solidFill>
            <a:tailEnd type="triangle"/>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7772400" y="3319272"/>
            <a:ext cx="3474720" cy="105156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790688" y="3438144"/>
            <a:ext cx="41148" cy="813815"/>
          </a:xfrm>
          <a:prstGeom prst="rect">
            <a:avLst/>
          </a:prstGeom>
          <a:solidFill>
            <a:srgbClr val="75B7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936992" y="3429000"/>
            <a:ext cx="3145536"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FFFFFF"/>
                </a:solidFill>
                <a:latin typeface="Segoe UI"/>
              </a:rPr>
              <a:t>AI Tuyển sinh</a:t>
            </a:r>
          </a:p>
        </p:txBody>
      </p:sp>
      <p:sp>
        <p:nvSpPr>
          <p:cNvPr id="23" name="TextBox 22"/>
          <p:cNvSpPr txBox="1"/>
          <p:nvPr/>
        </p:nvSpPr>
        <p:spPr>
          <a:xfrm>
            <a:off x="7936992" y="3904487"/>
            <a:ext cx="3145536" cy="393191"/>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AFBFDA"/>
                </a:solidFill>
                <a:latin typeface="Segoe UI"/>
              </a:rPr>
              <a:t>Văn bản và số liệu tuyển sinh</a:t>
            </a:r>
          </a:p>
        </p:txBody>
      </p:sp>
      <p:sp>
        <p:nvSpPr>
          <p:cNvPr id="24" name="Rounded Rectangle 23"/>
          <p:cNvSpPr/>
          <p:nvPr/>
        </p:nvSpPr>
        <p:spPr>
          <a:xfrm>
            <a:off x="7772400" y="4626864"/>
            <a:ext cx="3474720" cy="105156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7790688" y="4745736"/>
            <a:ext cx="41148" cy="813815"/>
          </a:xfrm>
          <a:prstGeom prst="rect">
            <a:avLst/>
          </a:prstGeom>
          <a:solidFill>
            <a:srgbClr val="DBB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936992" y="4736592"/>
            <a:ext cx="3145536"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FFFFFF"/>
                </a:solidFill>
                <a:latin typeface="Segoe UI"/>
              </a:rPr>
              <a:t>AI Đào tạo</a:t>
            </a:r>
          </a:p>
        </p:txBody>
      </p:sp>
      <p:sp>
        <p:nvSpPr>
          <p:cNvPr id="27" name="TextBox 26"/>
          <p:cNvSpPr txBox="1"/>
          <p:nvPr/>
        </p:nvSpPr>
        <p:spPr>
          <a:xfrm>
            <a:off x="7936992" y="5212079"/>
            <a:ext cx="3145536" cy="393191"/>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AFBFDA"/>
                </a:solidFill>
                <a:latin typeface="Segoe UI"/>
              </a:rPr>
              <a:t>Quy chế và số liệu học vụ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BÀI TOÁN XUẤT PHÁT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Một câu hỏi cần nhiều đầu mối</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02</a:t>
            </a:r>
          </a:p>
        </p:txBody>
      </p:sp>
      <p:sp>
        <p:nvSpPr>
          <p:cNvPr id="9" name="Rounded Rectangle 8"/>
          <p:cNvSpPr/>
          <p:nvPr/>
        </p:nvSpPr>
        <p:spPr>
          <a:xfrm>
            <a:off x="640080" y="2221992"/>
            <a:ext cx="10908792" cy="182880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2468880"/>
            <a:ext cx="10332720" cy="1325880"/>
          </a:xfrm>
          <a:prstGeom prst="rect">
            <a:avLst/>
          </a:prstGeom>
          <a:noFill/>
        </p:spPr>
        <p:txBody>
          <a:bodyPr wrap="square" anchor="t" lIns="22860" rIns="22860" tIns="22860" bIns="22860">
            <a:spAutoFit/>
          </a:bodyPr>
          <a:lstStyle/>
          <a:p>
            <a:pPr algn="l">
              <a:lnSpc>
                <a:spcPct val="110000"/>
              </a:lnSpc>
              <a:spcAft>
                <a:spcPts val="500"/>
              </a:spcAft>
            </a:pPr>
            <a:r>
              <a:rPr sz="2700" b="1">
                <a:solidFill>
                  <a:srgbClr val="23364F"/>
                </a:solidFill>
                <a:latin typeface="Segoe UI"/>
              </a:rPr>
              <a:t>“Ngành nào thiếu chỉ tiêu tuyển sinh nhất?</a:t>
            </a:r>
          </a:p>
          <a:p>
            <a:pPr algn="l">
              <a:lnSpc>
                <a:spcPct val="110000"/>
              </a:lnSpc>
              <a:spcAft>
                <a:spcPts val="500"/>
              </a:spcAft>
            </a:pPr>
            <a:r>
              <a:rPr sz="2700" b="1">
                <a:solidFill>
                  <a:srgbClr val="23364F"/>
                </a:solidFill>
                <a:latin typeface="Segoe UI"/>
              </a:rPr>
              <a:t>Ở những ngành đó, cảnh báo học vụ và rời trường ra sao?”</a:t>
            </a:r>
          </a:p>
        </p:txBody>
      </p:sp>
      <p:sp>
        <p:nvSpPr>
          <p:cNvPr id="11" name="Rounded Rectangle 10"/>
          <p:cNvSpPr/>
          <p:nvPr/>
        </p:nvSpPr>
        <p:spPr>
          <a:xfrm>
            <a:off x="640080" y="4434840"/>
            <a:ext cx="3465576" cy="14173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04671" y="4608576"/>
            <a:ext cx="384048" cy="384048"/>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04671" y="4608576"/>
            <a:ext cx="384048" cy="384048"/>
          </a:xfrm>
          <a:prstGeom prst="rect">
            <a:avLst/>
          </a:prstGeom>
          <a:noFill/>
        </p:spPr>
        <p:txBody>
          <a:bodyPr wrap="square" anchor="ctr" lIns="22860" rIns="22860" tIns="22860" bIns="22860">
            <a:spAutoFit/>
          </a:bodyPr>
          <a:lstStyle/>
          <a:p>
            <a:pPr algn="ctr">
              <a:lnSpc>
                <a:spcPct val="110000"/>
              </a:lnSpc>
              <a:spcAft>
                <a:spcPts val="0"/>
              </a:spcAft>
            </a:pPr>
            <a:r>
              <a:rPr sz="1300" b="1">
                <a:solidFill>
                  <a:srgbClr val="245BBA"/>
                </a:solidFill>
                <a:latin typeface="Segoe UI"/>
              </a:rPr>
              <a:t>01</a:t>
            </a:r>
          </a:p>
        </p:txBody>
      </p:sp>
      <p:sp>
        <p:nvSpPr>
          <p:cNvPr id="14" name="TextBox 13"/>
          <p:cNvSpPr txBox="1"/>
          <p:nvPr/>
        </p:nvSpPr>
        <p:spPr>
          <a:xfrm>
            <a:off x="1353312" y="4572000"/>
            <a:ext cx="2569464"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3364F"/>
                </a:solidFill>
                <a:latin typeface="Segoe UI"/>
              </a:rPr>
              <a:t>Tuyển sinh</a:t>
            </a:r>
          </a:p>
        </p:txBody>
      </p:sp>
      <p:sp>
        <p:nvSpPr>
          <p:cNvPr id="15" name="TextBox 14"/>
          <p:cNvSpPr txBox="1"/>
          <p:nvPr/>
        </p:nvSpPr>
        <p:spPr>
          <a:xfrm>
            <a:off x="1353312" y="5056631"/>
            <a:ext cx="2569464" cy="704088"/>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Chỉ tiêu · số xác nhận · phần còn thiếu</a:t>
            </a:r>
          </a:p>
        </p:txBody>
      </p:sp>
      <p:sp>
        <p:nvSpPr>
          <p:cNvPr id="16" name="Rounded Rectangle 15"/>
          <p:cNvSpPr/>
          <p:nvPr/>
        </p:nvSpPr>
        <p:spPr>
          <a:xfrm>
            <a:off x="4361688" y="4434840"/>
            <a:ext cx="3465576" cy="14173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4526279" y="4608576"/>
            <a:ext cx="384048" cy="384048"/>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26279" y="4608576"/>
            <a:ext cx="384048" cy="384048"/>
          </a:xfrm>
          <a:prstGeom prst="rect">
            <a:avLst/>
          </a:prstGeom>
          <a:noFill/>
        </p:spPr>
        <p:txBody>
          <a:bodyPr wrap="square" anchor="ctr" lIns="22860" rIns="22860" tIns="22860" bIns="22860">
            <a:spAutoFit/>
          </a:bodyPr>
          <a:lstStyle/>
          <a:p>
            <a:pPr algn="ctr">
              <a:lnSpc>
                <a:spcPct val="110000"/>
              </a:lnSpc>
              <a:spcAft>
                <a:spcPts val="0"/>
              </a:spcAft>
            </a:pPr>
            <a:r>
              <a:rPr sz="1300" b="1">
                <a:solidFill>
                  <a:srgbClr val="245BBA"/>
                </a:solidFill>
                <a:latin typeface="Segoe UI"/>
              </a:rPr>
              <a:t>02</a:t>
            </a:r>
          </a:p>
        </p:txBody>
      </p:sp>
      <p:sp>
        <p:nvSpPr>
          <p:cNvPr id="19" name="TextBox 18"/>
          <p:cNvSpPr txBox="1"/>
          <p:nvPr/>
        </p:nvSpPr>
        <p:spPr>
          <a:xfrm>
            <a:off x="5074920" y="4572000"/>
            <a:ext cx="2569464"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3364F"/>
                </a:solidFill>
                <a:latin typeface="Segoe UI"/>
              </a:rPr>
              <a:t>Đào tạo</a:t>
            </a:r>
          </a:p>
        </p:txBody>
      </p:sp>
      <p:sp>
        <p:nvSpPr>
          <p:cNvPr id="20" name="TextBox 19"/>
          <p:cNvSpPr txBox="1"/>
          <p:nvPr/>
        </p:nvSpPr>
        <p:spPr>
          <a:xfrm>
            <a:off x="5074920" y="5056631"/>
            <a:ext cx="2569464" cy="704088"/>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Cảnh báo · rời trường · ngành và khóa</a:t>
            </a:r>
          </a:p>
        </p:txBody>
      </p:sp>
      <p:sp>
        <p:nvSpPr>
          <p:cNvPr id="21" name="Rounded Rectangle 20"/>
          <p:cNvSpPr/>
          <p:nvPr/>
        </p:nvSpPr>
        <p:spPr>
          <a:xfrm>
            <a:off x="8083296" y="4434840"/>
            <a:ext cx="3465576" cy="14173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247888" y="4608576"/>
            <a:ext cx="384048" cy="384048"/>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247888" y="4608576"/>
            <a:ext cx="384048" cy="384048"/>
          </a:xfrm>
          <a:prstGeom prst="rect">
            <a:avLst/>
          </a:prstGeom>
          <a:noFill/>
        </p:spPr>
        <p:txBody>
          <a:bodyPr wrap="square" anchor="ctr" lIns="22860" rIns="22860" tIns="22860" bIns="22860">
            <a:spAutoFit/>
          </a:bodyPr>
          <a:lstStyle/>
          <a:p>
            <a:pPr algn="ctr">
              <a:lnSpc>
                <a:spcPct val="110000"/>
              </a:lnSpc>
              <a:spcAft>
                <a:spcPts val="0"/>
              </a:spcAft>
            </a:pPr>
            <a:r>
              <a:rPr sz="1300" b="1">
                <a:solidFill>
                  <a:srgbClr val="245BBA"/>
                </a:solidFill>
                <a:latin typeface="Segoe UI"/>
              </a:rPr>
              <a:t>03</a:t>
            </a:r>
          </a:p>
        </p:txBody>
      </p:sp>
      <p:sp>
        <p:nvSpPr>
          <p:cNvPr id="24" name="TextBox 23"/>
          <p:cNvSpPr txBox="1"/>
          <p:nvPr/>
        </p:nvSpPr>
        <p:spPr>
          <a:xfrm>
            <a:off x="8796528" y="4572000"/>
            <a:ext cx="2569464"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3364F"/>
                </a:solidFill>
                <a:latin typeface="Segoe UI"/>
              </a:rPr>
              <a:t>Lãnh đạo</a:t>
            </a:r>
          </a:p>
        </p:txBody>
      </p:sp>
      <p:sp>
        <p:nvSpPr>
          <p:cNvPr id="25" name="TextBox 24"/>
          <p:cNvSpPr txBox="1"/>
          <p:nvPr/>
        </p:nvSpPr>
        <p:spPr>
          <a:xfrm>
            <a:off x="8796528" y="5056631"/>
            <a:ext cx="2569464" cy="704088"/>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So sánh · nhận diện điểm cần kiểm tra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NHỮNG GÌ ĐÃ CÓ</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Ba trợ lý, ba phạm vi công việc</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03</a:t>
            </a:r>
          </a:p>
        </p:txBody>
      </p:sp>
      <p:sp>
        <p:nvSpPr>
          <p:cNvPr id="9" name="Rounded Rectangle 8"/>
          <p:cNvSpPr/>
          <p:nvPr/>
        </p:nvSpPr>
        <p:spPr>
          <a:xfrm>
            <a:off x="640080" y="2249424"/>
            <a:ext cx="3465576" cy="363931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41247" y="2487168"/>
            <a:ext cx="3063240"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23544" y="2510028"/>
            <a:ext cx="2898648" cy="228600"/>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40836F"/>
                </a:solidFill>
                <a:latin typeface="Segoe UI"/>
              </a:rPr>
              <a:t>Cán bộ tuyển sinh</a:t>
            </a:r>
          </a:p>
        </p:txBody>
      </p:sp>
      <p:sp>
        <p:nvSpPr>
          <p:cNvPr id="12" name="TextBox 11"/>
          <p:cNvSpPr txBox="1"/>
          <p:nvPr/>
        </p:nvSpPr>
        <p:spPr>
          <a:xfrm>
            <a:off x="850392" y="3044952"/>
            <a:ext cx="3035808" cy="457200"/>
          </a:xfrm>
          <a:prstGeom prst="rect">
            <a:avLst/>
          </a:prstGeom>
          <a:noFill/>
        </p:spPr>
        <p:txBody>
          <a:bodyPr wrap="square" anchor="t" lIns="22860" rIns="22860" tIns="22860" bIns="22860">
            <a:spAutoFit/>
          </a:bodyPr>
          <a:lstStyle/>
          <a:p>
            <a:pPr algn="l">
              <a:lnSpc>
                <a:spcPct val="110000"/>
              </a:lnSpc>
              <a:spcAft>
                <a:spcPts val="0"/>
              </a:spcAft>
            </a:pPr>
            <a:r>
              <a:rPr sz="2500" b="1">
                <a:solidFill>
                  <a:srgbClr val="40836F"/>
                </a:solidFill>
                <a:latin typeface="Segoe UI"/>
              </a:rPr>
              <a:t>AI Tuyển sinh</a:t>
            </a:r>
          </a:p>
        </p:txBody>
      </p:sp>
      <p:sp>
        <p:nvSpPr>
          <p:cNvPr id="13" name="TextBox 12"/>
          <p:cNvSpPr txBox="1"/>
          <p:nvPr/>
        </p:nvSpPr>
        <p:spPr>
          <a:xfrm>
            <a:off x="850392" y="3694176"/>
            <a:ext cx="3035808" cy="475488"/>
          </a:xfrm>
          <a:prstGeom prst="rect">
            <a:avLst/>
          </a:prstGeom>
          <a:noFill/>
        </p:spPr>
        <p:txBody>
          <a:bodyPr wrap="square" anchor="t" lIns="22860" rIns="22860" tIns="22860" bIns="22860">
            <a:spAutoFit/>
          </a:bodyPr>
          <a:lstStyle/>
          <a:p>
            <a:pPr algn="l">
              <a:lnSpc>
                <a:spcPct val="110000"/>
              </a:lnSpc>
              <a:spcAft>
                <a:spcPts val="0"/>
              </a:spcAft>
            </a:pPr>
            <a:r>
              <a:rPr sz="1700" b="1">
                <a:solidFill>
                  <a:srgbClr val="23364F"/>
                </a:solidFill>
                <a:latin typeface="Segoe UI"/>
              </a:rPr>
              <a:t>70 văn bản  /  19 truy vấn</a:t>
            </a:r>
          </a:p>
        </p:txBody>
      </p:sp>
      <p:cxnSp>
        <p:nvCxnSpPr>
          <p:cNvPr id="14" name="Connector 13"/>
          <p:cNvCxnSpPr/>
          <p:nvPr/>
        </p:nvCxnSpPr>
        <p:spPr>
          <a:xfrm>
            <a:off x="850392" y="4325112"/>
            <a:ext cx="3035808"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850392" y="4572000"/>
            <a:ext cx="3035808" cy="978408"/>
          </a:xfrm>
          <a:prstGeom prst="rect">
            <a:avLst/>
          </a:prstGeom>
          <a:noFill/>
        </p:spPr>
        <p:txBody>
          <a:bodyPr wrap="square" anchor="t" lIns="22860" rIns="22860" tIns="22860" bIns="22860">
            <a:spAutoFit/>
          </a:bodyPr>
          <a:lstStyle/>
          <a:p>
            <a:pPr algn="l">
              <a:lnSpc>
                <a:spcPct val="110000"/>
              </a:lnSpc>
              <a:spcAft>
                <a:spcPts val="500"/>
              </a:spcAft>
            </a:pPr>
            <a:r>
              <a:rPr sz="1600" b="0">
                <a:solidFill>
                  <a:srgbClr val="687A91"/>
                </a:solidFill>
                <a:latin typeface="Segoe UI"/>
              </a:rPr>
              <a:t>Tra cứu, soạn nháp</a:t>
            </a:r>
          </a:p>
          <a:p>
            <a:pPr algn="l">
              <a:lnSpc>
                <a:spcPct val="110000"/>
              </a:lnSpc>
              <a:spcAft>
                <a:spcPts val="500"/>
              </a:spcAft>
            </a:pPr>
            <a:r>
              <a:rPr sz="1600" b="0">
                <a:solidFill>
                  <a:srgbClr val="687A91"/>
                </a:solidFill>
                <a:latin typeface="Segoe UI"/>
              </a:rPr>
              <a:t>Theo dõi xác nhận nhập học</a:t>
            </a:r>
          </a:p>
          <a:p>
            <a:pPr algn="l">
              <a:lnSpc>
                <a:spcPct val="110000"/>
              </a:lnSpc>
              <a:spcAft>
                <a:spcPts val="500"/>
              </a:spcAft>
            </a:pPr>
            <a:r>
              <a:rPr sz="1600" b="0">
                <a:solidFill>
                  <a:srgbClr val="687A91"/>
                </a:solidFill>
                <a:latin typeface="Segoe UI"/>
              </a:rPr>
              <a:t>Rà soát hồ sơ và số liệu</a:t>
            </a:r>
          </a:p>
        </p:txBody>
      </p:sp>
      <p:sp>
        <p:nvSpPr>
          <p:cNvPr id="16" name="Rounded Rectangle 15"/>
          <p:cNvSpPr/>
          <p:nvPr/>
        </p:nvSpPr>
        <p:spPr>
          <a:xfrm>
            <a:off x="4361688" y="2249424"/>
            <a:ext cx="3465576" cy="363931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4562856" y="2487168"/>
            <a:ext cx="3063240"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45152" y="2510028"/>
            <a:ext cx="2898648" cy="228600"/>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A76B27"/>
                </a:solidFill>
                <a:latin typeface="Segoe UI"/>
              </a:rPr>
              <a:t>Phòng Đào tạo · Giảng viên</a:t>
            </a:r>
          </a:p>
        </p:txBody>
      </p:sp>
      <p:sp>
        <p:nvSpPr>
          <p:cNvPr id="19" name="TextBox 18"/>
          <p:cNvSpPr txBox="1"/>
          <p:nvPr/>
        </p:nvSpPr>
        <p:spPr>
          <a:xfrm>
            <a:off x="4572000" y="3044952"/>
            <a:ext cx="3035808" cy="457200"/>
          </a:xfrm>
          <a:prstGeom prst="rect">
            <a:avLst/>
          </a:prstGeom>
          <a:noFill/>
        </p:spPr>
        <p:txBody>
          <a:bodyPr wrap="square" anchor="t" lIns="22860" rIns="22860" tIns="22860" bIns="22860">
            <a:spAutoFit/>
          </a:bodyPr>
          <a:lstStyle/>
          <a:p>
            <a:pPr algn="l">
              <a:lnSpc>
                <a:spcPct val="110000"/>
              </a:lnSpc>
              <a:spcAft>
                <a:spcPts val="0"/>
              </a:spcAft>
            </a:pPr>
            <a:r>
              <a:rPr sz="2500" b="1">
                <a:solidFill>
                  <a:srgbClr val="A76B27"/>
                </a:solidFill>
                <a:latin typeface="Segoe UI"/>
              </a:rPr>
              <a:t>AI Đào tạo</a:t>
            </a:r>
          </a:p>
        </p:txBody>
      </p:sp>
      <p:sp>
        <p:nvSpPr>
          <p:cNvPr id="20" name="TextBox 19"/>
          <p:cNvSpPr txBox="1"/>
          <p:nvPr/>
        </p:nvSpPr>
        <p:spPr>
          <a:xfrm>
            <a:off x="4572000" y="3694176"/>
            <a:ext cx="3035808" cy="475488"/>
          </a:xfrm>
          <a:prstGeom prst="rect">
            <a:avLst/>
          </a:prstGeom>
          <a:noFill/>
        </p:spPr>
        <p:txBody>
          <a:bodyPr wrap="square" anchor="t" lIns="22860" rIns="22860" tIns="22860" bIns="22860">
            <a:spAutoFit/>
          </a:bodyPr>
          <a:lstStyle/>
          <a:p>
            <a:pPr algn="l">
              <a:lnSpc>
                <a:spcPct val="110000"/>
              </a:lnSpc>
              <a:spcAft>
                <a:spcPts val="0"/>
              </a:spcAft>
            </a:pPr>
            <a:r>
              <a:rPr sz="1700" b="1">
                <a:solidFill>
                  <a:srgbClr val="23364F"/>
                </a:solidFill>
                <a:latin typeface="Segoe UI"/>
              </a:rPr>
              <a:t>36 văn bản  /  17 truy vấn</a:t>
            </a:r>
          </a:p>
        </p:txBody>
      </p:sp>
      <p:cxnSp>
        <p:nvCxnSpPr>
          <p:cNvPr id="21" name="Connector 20"/>
          <p:cNvCxnSpPr/>
          <p:nvPr/>
        </p:nvCxnSpPr>
        <p:spPr>
          <a:xfrm>
            <a:off x="4572000" y="4325112"/>
            <a:ext cx="3035808"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4572000" y="4572000"/>
            <a:ext cx="3035808" cy="978408"/>
          </a:xfrm>
          <a:prstGeom prst="rect">
            <a:avLst/>
          </a:prstGeom>
          <a:noFill/>
        </p:spPr>
        <p:txBody>
          <a:bodyPr wrap="square" anchor="t" lIns="22860" rIns="22860" tIns="22860" bIns="22860">
            <a:spAutoFit/>
          </a:bodyPr>
          <a:lstStyle/>
          <a:p>
            <a:pPr algn="l">
              <a:lnSpc>
                <a:spcPct val="110000"/>
              </a:lnSpc>
              <a:spcAft>
                <a:spcPts val="500"/>
              </a:spcAft>
            </a:pPr>
            <a:r>
              <a:rPr sz="1600" b="0">
                <a:solidFill>
                  <a:srgbClr val="687A91"/>
                </a:solidFill>
                <a:latin typeface="Segoe UI"/>
              </a:rPr>
              <a:t>Quy chế và chương trình</a:t>
            </a:r>
          </a:p>
          <a:p>
            <a:pPr algn="l">
              <a:lnSpc>
                <a:spcPct val="110000"/>
              </a:lnSpc>
              <a:spcAft>
                <a:spcPts val="500"/>
              </a:spcAft>
            </a:pPr>
            <a:r>
              <a:rPr sz="1600" b="0">
                <a:solidFill>
                  <a:srgbClr val="687A91"/>
                </a:solidFill>
                <a:latin typeface="Segoe UI"/>
              </a:rPr>
              <a:t>Cảnh báo, kết quả học tập</a:t>
            </a:r>
          </a:p>
          <a:p>
            <a:pPr algn="l">
              <a:lnSpc>
                <a:spcPct val="110000"/>
              </a:lnSpc>
              <a:spcAft>
                <a:spcPts val="500"/>
              </a:spcAft>
            </a:pPr>
            <a:r>
              <a:rPr sz="1600" b="0">
                <a:solidFill>
                  <a:srgbClr val="687A91"/>
                </a:solidFill>
                <a:latin typeface="Segoe UI"/>
              </a:rPr>
              <a:t>Lớp học phần, lịch thi</a:t>
            </a:r>
          </a:p>
        </p:txBody>
      </p:sp>
      <p:sp>
        <p:nvSpPr>
          <p:cNvPr id="23" name="Rounded Rectangle 22"/>
          <p:cNvSpPr/>
          <p:nvPr/>
        </p:nvSpPr>
        <p:spPr>
          <a:xfrm>
            <a:off x="8083296" y="2249424"/>
            <a:ext cx="3465576" cy="363931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8284464" y="2487168"/>
            <a:ext cx="3063240"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366760" y="2510028"/>
            <a:ext cx="2898648" cy="228600"/>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7755A2"/>
                </a:solidFill>
                <a:latin typeface="Segoe UI"/>
              </a:rPr>
              <a:t>Hiệu trưởng</a:t>
            </a:r>
          </a:p>
        </p:txBody>
      </p:sp>
      <p:sp>
        <p:nvSpPr>
          <p:cNvPr id="26" name="TextBox 25"/>
          <p:cNvSpPr txBox="1"/>
          <p:nvPr/>
        </p:nvSpPr>
        <p:spPr>
          <a:xfrm>
            <a:off x="8293608" y="3044952"/>
            <a:ext cx="3035808" cy="457200"/>
          </a:xfrm>
          <a:prstGeom prst="rect">
            <a:avLst/>
          </a:prstGeom>
          <a:noFill/>
        </p:spPr>
        <p:txBody>
          <a:bodyPr wrap="square" anchor="t" lIns="22860" rIns="22860" tIns="22860" bIns="22860">
            <a:spAutoFit/>
          </a:bodyPr>
          <a:lstStyle/>
          <a:p>
            <a:pPr algn="l">
              <a:lnSpc>
                <a:spcPct val="110000"/>
              </a:lnSpc>
              <a:spcAft>
                <a:spcPts val="0"/>
              </a:spcAft>
            </a:pPr>
            <a:r>
              <a:rPr sz="2500" b="1">
                <a:solidFill>
                  <a:srgbClr val="7755A2"/>
                </a:solidFill>
                <a:latin typeface="Segoe UI"/>
              </a:rPr>
              <a:t>AI Tổng hợp</a:t>
            </a:r>
          </a:p>
        </p:txBody>
      </p:sp>
      <p:sp>
        <p:nvSpPr>
          <p:cNvPr id="27" name="TextBox 26"/>
          <p:cNvSpPr txBox="1"/>
          <p:nvPr/>
        </p:nvSpPr>
        <p:spPr>
          <a:xfrm>
            <a:off x="8293608" y="3694176"/>
            <a:ext cx="3035808" cy="475488"/>
          </a:xfrm>
          <a:prstGeom prst="rect">
            <a:avLst/>
          </a:prstGeom>
          <a:noFill/>
        </p:spPr>
        <p:txBody>
          <a:bodyPr wrap="square" anchor="t" lIns="22860" rIns="22860" tIns="22860" bIns="22860">
            <a:spAutoFit/>
          </a:bodyPr>
          <a:lstStyle/>
          <a:p>
            <a:pPr algn="l">
              <a:lnSpc>
                <a:spcPct val="110000"/>
              </a:lnSpc>
              <a:spcAft>
                <a:spcPts val="0"/>
              </a:spcAft>
            </a:pPr>
            <a:r>
              <a:rPr sz="1700" b="1">
                <a:solidFill>
                  <a:srgbClr val="23364F"/>
                </a:solidFill>
                <a:latin typeface="Segoe UI"/>
              </a:rPr>
              <a:t>Giao việc cho 2 AI lĩnh vực</a:t>
            </a:r>
          </a:p>
        </p:txBody>
      </p:sp>
      <p:cxnSp>
        <p:nvCxnSpPr>
          <p:cNvPr id="28" name="Connector 27"/>
          <p:cNvCxnSpPr/>
          <p:nvPr/>
        </p:nvCxnSpPr>
        <p:spPr>
          <a:xfrm>
            <a:off x="8293608" y="4325112"/>
            <a:ext cx="3035808"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8293608" y="4572000"/>
            <a:ext cx="3035808" cy="978408"/>
          </a:xfrm>
          <a:prstGeom prst="rect">
            <a:avLst/>
          </a:prstGeom>
          <a:noFill/>
        </p:spPr>
        <p:txBody>
          <a:bodyPr wrap="square" anchor="t" lIns="22860" rIns="22860" tIns="22860" bIns="22860">
            <a:spAutoFit/>
          </a:bodyPr>
          <a:lstStyle/>
          <a:p>
            <a:pPr algn="l">
              <a:lnSpc>
                <a:spcPct val="110000"/>
              </a:lnSpc>
              <a:spcAft>
                <a:spcPts val="500"/>
              </a:spcAft>
            </a:pPr>
            <a:r>
              <a:rPr sz="1600" b="0">
                <a:solidFill>
                  <a:srgbClr val="687A91"/>
                </a:solidFill>
                <a:latin typeface="Segoe UI"/>
              </a:rPr>
              <a:t>Lập kế hoạch liên lĩnh vực</a:t>
            </a:r>
          </a:p>
          <a:p>
            <a:pPr algn="l">
              <a:lnSpc>
                <a:spcPct val="110000"/>
              </a:lnSpc>
              <a:spcAft>
                <a:spcPts val="500"/>
              </a:spcAft>
            </a:pPr>
            <a:r>
              <a:rPr sz="1600" b="0">
                <a:solidFill>
                  <a:srgbClr val="687A91"/>
                </a:solidFill>
                <a:latin typeface="Segoe UI"/>
              </a:rPr>
              <a:t>Đối chiếu kết quả trả về</a:t>
            </a:r>
          </a:p>
          <a:p>
            <a:pPr algn="l">
              <a:lnSpc>
                <a:spcPct val="110000"/>
              </a:lnSpc>
              <a:spcAft>
                <a:spcPts val="500"/>
              </a:spcAft>
            </a:pPr>
            <a:r>
              <a:rPr sz="1600" b="0">
                <a:solidFill>
                  <a:srgbClr val="687A91"/>
                </a:solidFill>
                <a:latin typeface="Segoe UI"/>
              </a:rPr>
              <a:t>Tổng hợp cho lãnh đạo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98B5E7"/>
                </a:solidFill>
                <a:latin typeface="Segoe UI"/>
              </a:rPr>
              <a:t>CƠ CHẾ PHỐI HỢP</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FFFFFF"/>
                </a:solidFill>
                <a:latin typeface="Segoe UI"/>
              </a:rPr>
              <a:t>AI Hiệu trưởng thực sự giao việc</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AFBFDA"/>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AFBFDA"/>
                </a:solidFill>
                <a:latin typeface="Segoe UI"/>
              </a:rPr>
              <a:t>04</a:t>
            </a:r>
          </a:p>
        </p:txBody>
      </p:sp>
      <p:sp>
        <p:nvSpPr>
          <p:cNvPr id="9" name="Rounded Rectangle 8"/>
          <p:cNvSpPr/>
          <p:nvPr/>
        </p:nvSpPr>
        <p:spPr>
          <a:xfrm>
            <a:off x="4343400" y="2121408"/>
            <a:ext cx="3502152" cy="950976"/>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361688" y="2240279"/>
            <a:ext cx="41148" cy="713232"/>
          </a:xfrm>
          <a:prstGeom prst="rect">
            <a:avLst/>
          </a:prstGeom>
          <a:solidFill>
            <a:srgbClr val="9CBA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07992" y="2231136"/>
            <a:ext cx="3172968"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FFFFFF"/>
                </a:solidFill>
                <a:latin typeface="Segoe UI"/>
              </a:rPr>
              <a:t>AI Tổng hợp</a:t>
            </a:r>
          </a:p>
        </p:txBody>
      </p:sp>
      <p:sp>
        <p:nvSpPr>
          <p:cNvPr id="12" name="TextBox 11"/>
          <p:cNvSpPr txBox="1"/>
          <p:nvPr/>
        </p:nvSpPr>
        <p:spPr>
          <a:xfrm>
            <a:off x="4507992" y="2706624"/>
            <a:ext cx="3172968" cy="292608"/>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AFBFDA"/>
                </a:solidFill>
                <a:latin typeface="Segoe UI"/>
              </a:rPr>
              <a:t>Nhận câu hỏi và lập kế hoạch</a:t>
            </a:r>
          </a:p>
        </p:txBody>
      </p:sp>
      <p:cxnSp>
        <p:nvCxnSpPr>
          <p:cNvPr id="13" name="Connector 12"/>
          <p:cNvCxnSpPr/>
          <p:nvPr/>
        </p:nvCxnSpPr>
        <p:spPr>
          <a:xfrm>
            <a:off x="6089904" y="3072384"/>
            <a:ext cx="0" cy="192024"/>
          </a:xfrm>
          <a:prstGeom prst="line">
            <a:avLst/>
          </a:prstGeom>
          <a:ln w="1905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3291840" y="3264408"/>
            <a:ext cx="5596128" cy="0"/>
          </a:xfrm>
          <a:prstGeom prst="line">
            <a:avLst/>
          </a:prstGeom>
          <a:ln w="1905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291840" y="3264408"/>
            <a:ext cx="0" cy="265176"/>
          </a:xfrm>
          <a:prstGeom prst="line">
            <a:avLst/>
          </a:prstGeom>
          <a:ln w="19050">
            <a:solidFill>
              <a:srgbClr val="8BADE6"/>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8887968" y="3264408"/>
            <a:ext cx="0" cy="265176"/>
          </a:xfrm>
          <a:prstGeom prst="line">
            <a:avLst/>
          </a:prstGeom>
          <a:ln w="19050">
            <a:solidFill>
              <a:srgbClr val="8BADE6"/>
            </a:solidFill>
            <a:tailEnd type="triangle"/>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1234440" y="3538728"/>
            <a:ext cx="4114800" cy="114300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1252728" y="3657600"/>
            <a:ext cx="41148" cy="905256"/>
          </a:xfrm>
          <a:prstGeom prst="rect">
            <a:avLst/>
          </a:prstGeom>
          <a:solidFill>
            <a:srgbClr val="75B7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399032" y="3648456"/>
            <a:ext cx="3785615"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FFFFFF"/>
                </a:solidFill>
                <a:latin typeface="Segoe UI"/>
              </a:rPr>
              <a:t>AI Tuyển sinh</a:t>
            </a:r>
          </a:p>
        </p:txBody>
      </p:sp>
      <p:sp>
        <p:nvSpPr>
          <p:cNvPr id="20" name="TextBox 19"/>
          <p:cNvSpPr txBox="1"/>
          <p:nvPr/>
        </p:nvSpPr>
        <p:spPr>
          <a:xfrm>
            <a:off x="1399032" y="4123944"/>
            <a:ext cx="3785615" cy="48463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AFBFDA"/>
                </a:solidFill>
                <a:latin typeface="Segoe UI"/>
              </a:rPr>
              <a:t>Lập kế hoạch → thực hiện → nghiệm thu</a:t>
            </a:r>
          </a:p>
        </p:txBody>
      </p:sp>
      <p:sp>
        <p:nvSpPr>
          <p:cNvPr id="21" name="Rounded Rectangle 20"/>
          <p:cNvSpPr/>
          <p:nvPr/>
        </p:nvSpPr>
        <p:spPr>
          <a:xfrm>
            <a:off x="6830568" y="3538728"/>
            <a:ext cx="4114800" cy="114300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6848855" y="3657600"/>
            <a:ext cx="41148" cy="905256"/>
          </a:xfrm>
          <a:prstGeom prst="rect">
            <a:avLst/>
          </a:prstGeom>
          <a:solidFill>
            <a:srgbClr val="DBB0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995159" y="3648456"/>
            <a:ext cx="3785615"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FFFFFF"/>
                </a:solidFill>
                <a:latin typeface="Segoe UI"/>
              </a:rPr>
              <a:t>AI Đào tạo</a:t>
            </a:r>
          </a:p>
        </p:txBody>
      </p:sp>
      <p:sp>
        <p:nvSpPr>
          <p:cNvPr id="24" name="TextBox 23"/>
          <p:cNvSpPr txBox="1"/>
          <p:nvPr/>
        </p:nvSpPr>
        <p:spPr>
          <a:xfrm>
            <a:off x="6995159" y="4123944"/>
            <a:ext cx="3785615" cy="48463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AFBFDA"/>
                </a:solidFill>
                <a:latin typeface="Segoe UI"/>
              </a:rPr>
              <a:t>Lập kế hoạch → thực hiện → nghiệm thu</a:t>
            </a:r>
          </a:p>
        </p:txBody>
      </p:sp>
      <p:cxnSp>
        <p:nvCxnSpPr>
          <p:cNvPr id="25" name="Connector 24"/>
          <p:cNvCxnSpPr/>
          <p:nvPr/>
        </p:nvCxnSpPr>
        <p:spPr>
          <a:xfrm>
            <a:off x="3291840" y="4681728"/>
            <a:ext cx="0" cy="292608"/>
          </a:xfrm>
          <a:prstGeom prst="line">
            <a:avLst/>
          </a:prstGeom>
          <a:ln w="1905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8887968" y="4681728"/>
            <a:ext cx="0" cy="292608"/>
          </a:xfrm>
          <a:prstGeom prst="line">
            <a:avLst/>
          </a:prstGeom>
          <a:ln w="1905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3291840" y="4974336"/>
            <a:ext cx="5596128" cy="0"/>
          </a:xfrm>
          <a:prstGeom prst="line">
            <a:avLst/>
          </a:prstGeom>
          <a:ln w="19050">
            <a:solidFill>
              <a:srgbClr val="8BADE6"/>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089904" y="4974336"/>
            <a:ext cx="0" cy="237744"/>
          </a:xfrm>
          <a:prstGeom prst="line">
            <a:avLst/>
          </a:prstGeom>
          <a:ln w="19050">
            <a:solidFill>
              <a:srgbClr val="8BADE6"/>
            </a:solidFill>
            <a:tailEnd type="triangle"/>
          </a:ln>
          <a:effectLst/>
        </p:spPr>
        <p:style>
          <a:lnRef idx="2">
            <a:schemeClr val="accent1"/>
          </a:lnRef>
          <a:fillRef idx="0">
            <a:schemeClr val="accent1"/>
          </a:fillRef>
          <a:effectRef idx="0">
            <a:schemeClr val="accent1"/>
          </a:effectRef>
          <a:fontRef idx="minor">
            <a:schemeClr val="tx1"/>
          </a:fontRef>
        </p:style>
      </p:cxnSp>
      <p:sp>
        <p:nvSpPr>
          <p:cNvPr id="29" name="Rounded Rectangle 28"/>
          <p:cNvSpPr/>
          <p:nvPr/>
        </p:nvSpPr>
        <p:spPr>
          <a:xfrm>
            <a:off x="2834640" y="5230368"/>
            <a:ext cx="6519672" cy="566928"/>
          </a:xfrm>
          <a:prstGeom prst="roundRect">
            <a:avLst>
              <a:gd name="adj" fmla="val 12000"/>
            </a:avLst>
          </a:prstGeom>
          <a:solidFill>
            <a:srgbClr val="304866"/>
          </a:solidFill>
          <a:ln w="10160">
            <a:solidFill>
              <a:srgbClr val="5776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2971800" y="5321808"/>
            <a:ext cx="6245352" cy="320040"/>
          </a:xfrm>
          <a:prstGeom prst="rect">
            <a:avLst/>
          </a:prstGeom>
          <a:noFill/>
        </p:spPr>
        <p:txBody>
          <a:bodyPr wrap="square" anchor="t" lIns="22860" rIns="22860" tIns="22860" bIns="22860">
            <a:spAutoFit/>
          </a:bodyPr>
          <a:lstStyle/>
          <a:p>
            <a:pPr algn="ctr">
              <a:lnSpc>
                <a:spcPct val="110000"/>
              </a:lnSpc>
              <a:spcAft>
                <a:spcPts val="0"/>
              </a:spcAft>
            </a:pPr>
            <a:r>
              <a:rPr sz="1900" b="1">
                <a:solidFill>
                  <a:srgbClr val="FFFFFF"/>
                </a:solidFill>
                <a:latin typeface="Segoe UI"/>
              </a:rPr>
              <a:t>Phân tích khi cần → AI Tổng hợp kiểm tra và trả lời</a:t>
            </a:r>
          </a:p>
        </p:txBody>
      </p:sp>
      <p:sp>
        <p:nvSpPr>
          <p:cNvPr id="31" name="TextBox 30"/>
          <p:cNvSpPr txBox="1"/>
          <p:nvPr/>
        </p:nvSpPr>
        <p:spPr>
          <a:xfrm>
            <a:off x="722376" y="6007608"/>
            <a:ext cx="10789920" cy="256032"/>
          </a:xfrm>
          <a:prstGeom prst="rect">
            <a:avLst/>
          </a:prstGeom>
          <a:noFill/>
        </p:spPr>
        <p:txBody>
          <a:bodyPr wrap="square" anchor="t" lIns="22860" rIns="22860" tIns="22860" bIns="22860">
            <a:spAutoFit/>
          </a:bodyPr>
          <a:lstStyle/>
          <a:p>
            <a:pPr algn="ctr">
              <a:lnSpc>
                <a:spcPct val="110000"/>
              </a:lnSpc>
              <a:spcAft>
                <a:spcPts val="0"/>
              </a:spcAft>
            </a:pPr>
            <a:r>
              <a:rPr sz="1200" b="0">
                <a:solidFill>
                  <a:srgbClr val="AFBFDA"/>
                </a:solidFill>
                <a:latin typeface="Segoe UI"/>
              </a:rPr>
              <a:t>Cấp Tổng hợp: 0 tài liệu trực tiếp · Không có kết nối CSDL riêng · Nhận kết quả do AI con trả về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MINH CHỨNG THỰC THI · 29/09/2026</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Có bằng chứng từ một lượt chạy cụ thể</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05</a:t>
            </a:r>
          </a:p>
        </p:txBody>
      </p:sp>
      <p:sp>
        <p:nvSpPr>
          <p:cNvPr id="9" name="Rounded Rectangle 8"/>
          <p:cNvSpPr/>
          <p:nvPr/>
        </p:nvSpPr>
        <p:spPr>
          <a:xfrm>
            <a:off x="640080" y="2322576"/>
            <a:ext cx="7680960" cy="80467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822960" y="2459736"/>
            <a:ext cx="457200" cy="45720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22960" y="2459736"/>
            <a:ext cx="457200" cy="457200"/>
          </a:xfrm>
          <a:prstGeom prst="rect">
            <a:avLst/>
          </a:prstGeom>
          <a:noFill/>
        </p:spPr>
        <p:txBody>
          <a:bodyPr wrap="square" anchor="ctr" lIns="22860" rIns="22860" tIns="22860" bIns="22860">
            <a:spAutoFit/>
          </a:bodyPr>
          <a:lstStyle/>
          <a:p>
            <a:pPr algn="ctr">
              <a:lnSpc>
                <a:spcPct val="110000"/>
              </a:lnSpc>
              <a:spcAft>
                <a:spcPts val="0"/>
              </a:spcAft>
            </a:pPr>
            <a:r>
              <a:rPr sz="1400" b="1">
                <a:solidFill>
                  <a:srgbClr val="40836F"/>
                </a:solidFill>
                <a:latin typeface="Segoe UI"/>
              </a:rPr>
              <a:t>T1</a:t>
            </a:r>
          </a:p>
        </p:txBody>
      </p:sp>
      <p:sp>
        <p:nvSpPr>
          <p:cNvPr id="12" name="TextBox 11"/>
          <p:cNvSpPr txBox="1"/>
          <p:nvPr/>
        </p:nvSpPr>
        <p:spPr>
          <a:xfrm>
            <a:off x="1508760" y="2468880"/>
            <a:ext cx="2971800" cy="320040"/>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3364F"/>
                </a:solidFill>
                <a:latin typeface="Segoe UI"/>
              </a:rPr>
              <a:t>AI Tuyển sinh</a:t>
            </a:r>
          </a:p>
        </p:txBody>
      </p:sp>
      <p:sp>
        <p:nvSpPr>
          <p:cNvPr id="13" name="TextBox 12"/>
          <p:cNvSpPr txBox="1"/>
          <p:nvPr/>
        </p:nvSpPr>
        <p:spPr>
          <a:xfrm>
            <a:off x="4681728" y="2441448"/>
            <a:ext cx="3383280" cy="25603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Cùng đợt với T2</a:t>
            </a:r>
          </a:p>
        </p:txBody>
      </p:sp>
      <p:sp>
        <p:nvSpPr>
          <p:cNvPr id="14" name="TextBox 13"/>
          <p:cNvSpPr txBox="1"/>
          <p:nvPr/>
        </p:nvSpPr>
        <p:spPr>
          <a:xfrm>
            <a:off x="4681728" y="2770632"/>
            <a:ext cx="3383280" cy="201168"/>
          </a:xfrm>
          <a:prstGeom prst="rect">
            <a:avLst/>
          </a:prstGeom>
          <a:noFill/>
        </p:spPr>
        <p:txBody>
          <a:bodyPr wrap="square" anchor="t" lIns="22860" rIns="22860" tIns="22860" bIns="22860">
            <a:spAutoFit/>
          </a:bodyPr>
          <a:lstStyle/>
          <a:p>
            <a:pPr algn="l">
              <a:lnSpc>
                <a:spcPct val="110000"/>
              </a:lnSpc>
              <a:spcAft>
                <a:spcPts val="0"/>
              </a:spcAft>
            </a:pPr>
            <a:r>
              <a:rPr sz="1100" b="0">
                <a:solidFill>
                  <a:srgbClr val="40836F"/>
                </a:solidFill>
                <a:latin typeface="Segoe UI"/>
              </a:rPr>
              <a:t>8 lượt gọi</a:t>
            </a:r>
          </a:p>
        </p:txBody>
      </p:sp>
      <p:sp>
        <p:nvSpPr>
          <p:cNvPr id="15" name="Rounded Rectangle 14"/>
          <p:cNvSpPr/>
          <p:nvPr/>
        </p:nvSpPr>
        <p:spPr>
          <a:xfrm>
            <a:off x="640080" y="3282696"/>
            <a:ext cx="7680960" cy="80467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22960" y="3419856"/>
            <a:ext cx="457200" cy="45720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2960" y="3419856"/>
            <a:ext cx="457200" cy="457200"/>
          </a:xfrm>
          <a:prstGeom prst="rect">
            <a:avLst/>
          </a:prstGeom>
          <a:noFill/>
        </p:spPr>
        <p:txBody>
          <a:bodyPr wrap="square" anchor="ctr" lIns="22860" rIns="22860" tIns="22860" bIns="22860">
            <a:spAutoFit/>
          </a:bodyPr>
          <a:lstStyle/>
          <a:p>
            <a:pPr algn="ctr">
              <a:lnSpc>
                <a:spcPct val="110000"/>
              </a:lnSpc>
              <a:spcAft>
                <a:spcPts val="0"/>
              </a:spcAft>
            </a:pPr>
            <a:r>
              <a:rPr sz="1400" b="1">
                <a:solidFill>
                  <a:srgbClr val="A76B27"/>
                </a:solidFill>
                <a:latin typeface="Segoe UI"/>
              </a:rPr>
              <a:t>T2</a:t>
            </a:r>
          </a:p>
        </p:txBody>
      </p:sp>
      <p:sp>
        <p:nvSpPr>
          <p:cNvPr id="18" name="TextBox 17"/>
          <p:cNvSpPr txBox="1"/>
          <p:nvPr/>
        </p:nvSpPr>
        <p:spPr>
          <a:xfrm>
            <a:off x="1508760" y="3429000"/>
            <a:ext cx="2971800" cy="320040"/>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3364F"/>
                </a:solidFill>
                <a:latin typeface="Segoe UI"/>
              </a:rPr>
              <a:t>AI Đào tạo</a:t>
            </a:r>
          </a:p>
        </p:txBody>
      </p:sp>
      <p:sp>
        <p:nvSpPr>
          <p:cNvPr id="19" name="TextBox 18"/>
          <p:cNvSpPr txBox="1"/>
          <p:nvPr/>
        </p:nvSpPr>
        <p:spPr>
          <a:xfrm>
            <a:off x="4681728" y="3401568"/>
            <a:ext cx="3383280" cy="25603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Cùng đợt với T1</a:t>
            </a:r>
          </a:p>
        </p:txBody>
      </p:sp>
      <p:sp>
        <p:nvSpPr>
          <p:cNvPr id="20" name="TextBox 19"/>
          <p:cNvSpPr txBox="1"/>
          <p:nvPr/>
        </p:nvSpPr>
        <p:spPr>
          <a:xfrm>
            <a:off x="4681728" y="3730752"/>
            <a:ext cx="3383280" cy="201168"/>
          </a:xfrm>
          <a:prstGeom prst="rect">
            <a:avLst/>
          </a:prstGeom>
          <a:noFill/>
        </p:spPr>
        <p:txBody>
          <a:bodyPr wrap="square" anchor="t" lIns="22860" rIns="22860" tIns="22860" bIns="22860">
            <a:spAutoFit/>
          </a:bodyPr>
          <a:lstStyle/>
          <a:p>
            <a:pPr algn="l">
              <a:lnSpc>
                <a:spcPct val="110000"/>
              </a:lnSpc>
              <a:spcAft>
                <a:spcPts val="0"/>
              </a:spcAft>
            </a:pPr>
            <a:r>
              <a:rPr sz="1100" b="0">
                <a:solidFill>
                  <a:srgbClr val="A76B27"/>
                </a:solidFill>
                <a:latin typeface="Segoe UI"/>
              </a:rPr>
              <a:t>4 lượt gọi</a:t>
            </a:r>
          </a:p>
        </p:txBody>
      </p:sp>
      <p:sp>
        <p:nvSpPr>
          <p:cNvPr id="21" name="Rounded Rectangle 20"/>
          <p:cNvSpPr/>
          <p:nvPr/>
        </p:nvSpPr>
        <p:spPr>
          <a:xfrm>
            <a:off x="640080" y="4242816"/>
            <a:ext cx="7680960" cy="804672"/>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22960" y="4379976"/>
            <a:ext cx="457200" cy="45720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22960" y="4379976"/>
            <a:ext cx="457200" cy="457200"/>
          </a:xfrm>
          <a:prstGeom prst="rect">
            <a:avLst/>
          </a:prstGeom>
          <a:noFill/>
        </p:spPr>
        <p:txBody>
          <a:bodyPr wrap="square" anchor="ctr" lIns="22860" rIns="22860" tIns="22860" bIns="22860">
            <a:spAutoFit/>
          </a:bodyPr>
          <a:lstStyle/>
          <a:p>
            <a:pPr algn="ctr">
              <a:lnSpc>
                <a:spcPct val="110000"/>
              </a:lnSpc>
              <a:spcAft>
                <a:spcPts val="0"/>
              </a:spcAft>
            </a:pPr>
            <a:r>
              <a:rPr sz="1400" b="1">
                <a:solidFill>
                  <a:srgbClr val="7755A2"/>
                </a:solidFill>
                <a:latin typeface="Segoe UI"/>
              </a:rPr>
              <a:t>T3</a:t>
            </a:r>
          </a:p>
        </p:txBody>
      </p:sp>
      <p:sp>
        <p:nvSpPr>
          <p:cNvPr id="24" name="TextBox 23"/>
          <p:cNvSpPr txBox="1"/>
          <p:nvPr/>
        </p:nvSpPr>
        <p:spPr>
          <a:xfrm>
            <a:off x="1508760" y="4389120"/>
            <a:ext cx="2971800" cy="320040"/>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3364F"/>
                </a:solidFill>
                <a:latin typeface="Segoe UI"/>
              </a:rPr>
              <a:t>Tác tử Phân tích</a:t>
            </a:r>
          </a:p>
        </p:txBody>
      </p:sp>
      <p:sp>
        <p:nvSpPr>
          <p:cNvPr id="25" name="TextBox 24"/>
          <p:cNvSpPr txBox="1"/>
          <p:nvPr/>
        </p:nvSpPr>
        <p:spPr>
          <a:xfrm>
            <a:off x="4681728" y="4361688"/>
            <a:ext cx="3383280" cy="25603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Đợi T1 và T2 đạt</a:t>
            </a:r>
          </a:p>
        </p:txBody>
      </p:sp>
      <p:sp>
        <p:nvSpPr>
          <p:cNvPr id="26" name="TextBox 25"/>
          <p:cNvSpPr txBox="1"/>
          <p:nvPr/>
        </p:nvSpPr>
        <p:spPr>
          <a:xfrm>
            <a:off x="4681728" y="4690872"/>
            <a:ext cx="3383280" cy="201168"/>
          </a:xfrm>
          <a:prstGeom prst="rect">
            <a:avLst/>
          </a:prstGeom>
          <a:noFill/>
        </p:spPr>
        <p:txBody>
          <a:bodyPr wrap="square" anchor="t" lIns="22860" rIns="22860" tIns="22860" bIns="22860">
            <a:spAutoFit/>
          </a:bodyPr>
          <a:lstStyle/>
          <a:p>
            <a:pPr algn="l">
              <a:lnSpc>
                <a:spcPct val="110000"/>
              </a:lnSpc>
              <a:spcAft>
                <a:spcPts val="0"/>
              </a:spcAft>
            </a:pPr>
            <a:r>
              <a:rPr sz="1100" b="0">
                <a:solidFill>
                  <a:srgbClr val="7755A2"/>
                </a:solidFill>
                <a:latin typeface="Segoe UI"/>
              </a:rPr>
              <a:t>2 lượt gồm thực hiện và nghiệm thu</a:t>
            </a:r>
          </a:p>
        </p:txBody>
      </p:sp>
      <p:sp>
        <p:nvSpPr>
          <p:cNvPr id="27" name="Rounded Rectangle 26"/>
          <p:cNvSpPr/>
          <p:nvPr/>
        </p:nvSpPr>
        <p:spPr>
          <a:xfrm>
            <a:off x="8613648" y="2322576"/>
            <a:ext cx="2926080" cy="109728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796528" y="2441448"/>
            <a:ext cx="2560320" cy="502920"/>
          </a:xfrm>
          <a:prstGeom prst="rect">
            <a:avLst/>
          </a:prstGeom>
          <a:noFill/>
        </p:spPr>
        <p:txBody>
          <a:bodyPr wrap="square" anchor="t" lIns="22860" rIns="22860" tIns="22860" bIns="22860">
            <a:spAutoFit/>
          </a:bodyPr>
          <a:lstStyle/>
          <a:p>
            <a:pPr algn="l">
              <a:lnSpc>
                <a:spcPct val="110000"/>
              </a:lnSpc>
              <a:spcAft>
                <a:spcPts val="0"/>
              </a:spcAft>
            </a:pPr>
            <a:r>
              <a:rPr sz="2800" b="1">
                <a:solidFill>
                  <a:srgbClr val="245BBA"/>
                </a:solidFill>
                <a:latin typeface="Segoe UI"/>
              </a:rPr>
              <a:t>18</a:t>
            </a:r>
          </a:p>
        </p:txBody>
      </p:sp>
      <p:sp>
        <p:nvSpPr>
          <p:cNvPr id="29" name="TextBox 28"/>
          <p:cNvSpPr txBox="1"/>
          <p:nvPr/>
        </p:nvSpPr>
        <p:spPr>
          <a:xfrm>
            <a:off x="8796528" y="3026664"/>
            <a:ext cx="2560320" cy="292608"/>
          </a:xfrm>
          <a:prstGeom prst="rect">
            <a:avLst/>
          </a:prstGeom>
          <a:noFill/>
        </p:spPr>
        <p:txBody>
          <a:bodyPr wrap="square" anchor="t" lIns="22860" rIns="22860" tIns="22860" bIns="22860">
            <a:spAutoFit/>
          </a:bodyPr>
          <a:lstStyle/>
          <a:p>
            <a:pPr algn="l">
              <a:lnSpc>
                <a:spcPct val="110000"/>
              </a:lnSpc>
              <a:spcAft>
                <a:spcPts val="0"/>
              </a:spcAft>
            </a:pPr>
            <a:r>
              <a:rPr sz="1200" b="0">
                <a:solidFill>
                  <a:srgbClr val="687A91"/>
                </a:solidFill>
                <a:latin typeface="Segoe UI"/>
              </a:rPr>
              <a:t>Lượt gọi AI trong bản ghi</a:t>
            </a:r>
          </a:p>
        </p:txBody>
      </p:sp>
      <p:sp>
        <p:nvSpPr>
          <p:cNvPr id="30" name="Rounded Rectangle 29"/>
          <p:cNvSpPr/>
          <p:nvPr/>
        </p:nvSpPr>
        <p:spPr>
          <a:xfrm>
            <a:off x="8613648" y="3648456"/>
            <a:ext cx="2926080" cy="109728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796528" y="3767328"/>
            <a:ext cx="2560320" cy="502920"/>
          </a:xfrm>
          <a:prstGeom prst="rect">
            <a:avLst/>
          </a:prstGeom>
          <a:noFill/>
        </p:spPr>
        <p:txBody>
          <a:bodyPr wrap="square" anchor="t" lIns="22860" rIns="22860" tIns="22860" bIns="22860">
            <a:spAutoFit/>
          </a:bodyPr>
          <a:lstStyle/>
          <a:p>
            <a:pPr algn="l">
              <a:lnSpc>
                <a:spcPct val="110000"/>
              </a:lnSpc>
              <a:spcAft>
                <a:spcPts val="0"/>
              </a:spcAft>
            </a:pPr>
            <a:r>
              <a:rPr sz="2800" b="1">
                <a:solidFill>
                  <a:srgbClr val="40836F"/>
                </a:solidFill>
                <a:latin typeface="Segoe UI"/>
              </a:rPr>
              <a:t>4 phút 47</a:t>
            </a:r>
          </a:p>
        </p:txBody>
      </p:sp>
      <p:sp>
        <p:nvSpPr>
          <p:cNvPr id="32" name="TextBox 31"/>
          <p:cNvSpPr txBox="1"/>
          <p:nvPr/>
        </p:nvSpPr>
        <p:spPr>
          <a:xfrm>
            <a:off x="8796528" y="4352544"/>
            <a:ext cx="2560320" cy="292608"/>
          </a:xfrm>
          <a:prstGeom prst="rect">
            <a:avLst/>
          </a:prstGeom>
          <a:noFill/>
        </p:spPr>
        <p:txBody>
          <a:bodyPr wrap="square" anchor="t" lIns="22860" rIns="22860" tIns="22860" bIns="22860">
            <a:spAutoFit/>
          </a:bodyPr>
          <a:lstStyle/>
          <a:p>
            <a:pPr algn="l">
              <a:lnSpc>
                <a:spcPct val="110000"/>
              </a:lnSpc>
              <a:spcAft>
                <a:spcPts val="0"/>
              </a:spcAft>
            </a:pPr>
            <a:r>
              <a:rPr sz="1200" b="0">
                <a:solidFill>
                  <a:srgbClr val="687A91"/>
                </a:solidFill>
                <a:latin typeface="Segoe UI"/>
              </a:rPr>
              <a:t>Thời gian của riêng lượt này</a:t>
            </a:r>
          </a:p>
        </p:txBody>
      </p:sp>
      <p:sp>
        <p:nvSpPr>
          <p:cNvPr id="33" name="TextBox 32"/>
          <p:cNvSpPr txBox="1"/>
          <p:nvPr/>
        </p:nvSpPr>
        <p:spPr>
          <a:xfrm>
            <a:off x="749808" y="5184648"/>
            <a:ext cx="10725912" cy="219456"/>
          </a:xfrm>
          <a:prstGeom prst="rect">
            <a:avLst/>
          </a:prstGeom>
          <a:noFill/>
        </p:spPr>
        <p:txBody>
          <a:bodyPr wrap="square" anchor="t" lIns="22860" rIns="22860" tIns="22860" bIns="22860">
            <a:spAutoFit/>
          </a:bodyPr>
          <a:lstStyle/>
          <a:p>
            <a:pPr algn="l">
              <a:lnSpc>
                <a:spcPct val="110000"/>
              </a:lnSpc>
              <a:spcAft>
                <a:spcPts val="0"/>
              </a:spcAft>
            </a:pPr>
            <a:r>
              <a:rPr sz="1100" b="0">
                <a:solidFill>
                  <a:srgbClr val="687A91"/>
                </a:solidFill>
                <a:latin typeface="Segoe UI"/>
              </a:rPr>
              <a:t>18 lượt = 8 Tuyển sinh + 4 Đào tạo + 6 cấp điều phối; trong 6 lượt có 2 lượt của bước Phân tích.</a:t>
            </a:r>
          </a:p>
        </p:txBody>
      </p:sp>
      <p:sp>
        <p:nvSpPr>
          <p:cNvPr id="34" name="Rounded Rectangle 33"/>
          <p:cNvSpPr/>
          <p:nvPr/>
        </p:nvSpPr>
        <p:spPr>
          <a:xfrm>
            <a:off x="658368" y="5513832"/>
            <a:ext cx="10881360" cy="493776"/>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32104" y="5614416"/>
            <a:ext cx="10515600" cy="283464"/>
          </a:xfrm>
          <a:prstGeom prst="rect">
            <a:avLst/>
          </a:prstGeom>
          <a:noFill/>
        </p:spPr>
        <p:txBody>
          <a:bodyPr wrap="square" anchor="t" lIns="22860" rIns="22860" tIns="22860" bIns="22860">
            <a:spAutoFit/>
          </a:bodyPr>
          <a:lstStyle/>
          <a:p>
            <a:pPr algn="l">
              <a:lnSpc>
                <a:spcPct val="110000"/>
              </a:lnSpc>
              <a:spcAft>
                <a:spcPts val="0"/>
              </a:spcAft>
            </a:pPr>
            <a:r>
              <a:rPr sz="1700" b="1">
                <a:solidFill>
                  <a:srgbClr val="245BBA"/>
                </a:solidFill>
                <a:latin typeface="Segoe UI"/>
              </a:rPr>
              <a:t>~00:40  Giao hai AI con     →     ~04:13  Bắt đầu phân tích     →     ~04:47  Trả kết quả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KHÔNG GIAN LÀM VIỆC MỚI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Hỏi việc, thấy tiến độ, mở được nguồn</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06</a:t>
            </a:r>
          </a:p>
        </p:txBody>
      </p:sp>
      <p:sp>
        <p:nvSpPr>
          <p:cNvPr id="9" name="Rounded Rectangle 8"/>
          <p:cNvSpPr/>
          <p:nvPr/>
        </p:nvSpPr>
        <p:spPr>
          <a:xfrm>
            <a:off x="4380890" y="2052827"/>
            <a:ext cx="6545275" cy="4114800"/>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welcome-principal.png"/>
          <p:cNvPicPr>
            <a:picLocks noChangeAspect="1"/>
          </p:cNvPicPr>
          <p:nvPr/>
        </p:nvPicPr>
        <p:blipFill>
          <a:blip r:embed="rId3"/>
          <a:stretch>
            <a:fillRect/>
          </a:stretch>
        </p:blipFill>
        <p:spPr>
          <a:xfrm>
            <a:off x="4412894" y="2084831"/>
            <a:ext cx="6481267" cy="4050791"/>
          </a:xfrm>
          <a:prstGeom prst="rect">
            <a:avLst/>
          </a:prstGeom>
        </p:spPr>
      </p:pic>
      <p:sp>
        <p:nvSpPr>
          <p:cNvPr id="11" name="Oval 10"/>
          <p:cNvSpPr/>
          <p:nvPr/>
        </p:nvSpPr>
        <p:spPr>
          <a:xfrm>
            <a:off x="676656" y="2350008"/>
            <a:ext cx="393192" cy="393192"/>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76656" y="2350008"/>
            <a:ext cx="393192" cy="393192"/>
          </a:xfrm>
          <a:prstGeom prst="rect">
            <a:avLst/>
          </a:prstGeom>
          <a:noFill/>
        </p:spPr>
        <p:txBody>
          <a:bodyPr wrap="square" anchor="ctr" lIns="22860" rIns="22860" tIns="22860" bIns="22860">
            <a:spAutoFit/>
          </a:bodyPr>
          <a:lstStyle/>
          <a:p>
            <a:pPr algn="ctr">
              <a:lnSpc>
                <a:spcPct val="110000"/>
              </a:lnSpc>
              <a:spcAft>
                <a:spcPts val="0"/>
              </a:spcAft>
            </a:pPr>
            <a:r>
              <a:rPr sz="1300" b="1">
                <a:solidFill>
                  <a:srgbClr val="245BBA"/>
                </a:solidFill>
                <a:latin typeface="Segoe UI"/>
              </a:rPr>
              <a:t>01</a:t>
            </a:r>
          </a:p>
        </p:txBody>
      </p:sp>
      <p:sp>
        <p:nvSpPr>
          <p:cNvPr id="13" name="TextBox 12"/>
          <p:cNvSpPr txBox="1"/>
          <p:nvPr/>
        </p:nvSpPr>
        <p:spPr>
          <a:xfrm>
            <a:off x="1216152" y="2331720"/>
            <a:ext cx="2322576"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3364F"/>
                </a:solidFill>
                <a:latin typeface="Segoe UI"/>
              </a:rPr>
              <a:t>Chọn đúng trợ lý</a:t>
            </a:r>
          </a:p>
        </p:txBody>
      </p:sp>
      <p:sp>
        <p:nvSpPr>
          <p:cNvPr id="14" name="TextBox 13"/>
          <p:cNvSpPr txBox="1"/>
          <p:nvPr/>
        </p:nvSpPr>
        <p:spPr>
          <a:xfrm>
            <a:off x="1216152" y="2816352"/>
            <a:ext cx="2322576" cy="585216"/>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Tuyển sinh · Đào tạo · Tổng hợp</a:t>
            </a:r>
          </a:p>
        </p:txBody>
      </p:sp>
      <p:sp>
        <p:nvSpPr>
          <p:cNvPr id="15" name="Oval 14"/>
          <p:cNvSpPr/>
          <p:nvPr/>
        </p:nvSpPr>
        <p:spPr>
          <a:xfrm>
            <a:off x="676656" y="3639312"/>
            <a:ext cx="393192" cy="393192"/>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76656" y="3639312"/>
            <a:ext cx="393192" cy="393192"/>
          </a:xfrm>
          <a:prstGeom prst="rect">
            <a:avLst/>
          </a:prstGeom>
          <a:noFill/>
        </p:spPr>
        <p:txBody>
          <a:bodyPr wrap="square" anchor="ctr" lIns="22860" rIns="22860" tIns="22860" bIns="22860">
            <a:spAutoFit/>
          </a:bodyPr>
          <a:lstStyle/>
          <a:p>
            <a:pPr algn="ctr">
              <a:lnSpc>
                <a:spcPct val="110000"/>
              </a:lnSpc>
              <a:spcAft>
                <a:spcPts val="0"/>
              </a:spcAft>
            </a:pPr>
            <a:r>
              <a:rPr sz="1300" b="1">
                <a:solidFill>
                  <a:srgbClr val="245BBA"/>
                </a:solidFill>
                <a:latin typeface="Segoe UI"/>
              </a:rPr>
              <a:t>02</a:t>
            </a:r>
          </a:p>
        </p:txBody>
      </p:sp>
      <p:sp>
        <p:nvSpPr>
          <p:cNvPr id="17" name="TextBox 16"/>
          <p:cNvSpPr txBox="1"/>
          <p:nvPr/>
        </p:nvSpPr>
        <p:spPr>
          <a:xfrm>
            <a:off x="1216152" y="3621024"/>
            <a:ext cx="2322576"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3364F"/>
                </a:solidFill>
                <a:latin typeface="Segoe UI"/>
              </a:rPr>
              <a:t>Nêu một công việc</a:t>
            </a:r>
          </a:p>
        </p:txBody>
      </p:sp>
      <p:sp>
        <p:nvSpPr>
          <p:cNvPr id="18" name="TextBox 17"/>
          <p:cNvSpPr txBox="1"/>
          <p:nvPr/>
        </p:nvSpPr>
        <p:spPr>
          <a:xfrm>
            <a:off x="1216152" y="4105656"/>
            <a:ext cx="2322576" cy="585216"/>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Tra cứu, phân tích, soạn báo cáo</a:t>
            </a:r>
          </a:p>
        </p:txBody>
      </p:sp>
      <p:sp>
        <p:nvSpPr>
          <p:cNvPr id="19" name="Oval 18"/>
          <p:cNvSpPr/>
          <p:nvPr/>
        </p:nvSpPr>
        <p:spPr>
          <a:xfrm>
            <a:off x="676656" y="4928616"/>
            <a:ext cx="393192" cy="393192"/>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76656" y="4928616"/>
            <a:ext cx="393192" cy="393192"/>
          </a:xfrm>
          <a:prstGeom prst="rect">
            <a:avLst/>
          </a:prstGeom>
          <a:noFill/>
        </p:spPr>
        <p:txBody>
          <a:bodyPr wrap="square" anchor="ctr" lIns="22860" rIns="22860" tIns="22860" bIns="22860">
            <a:spAutoFit/>
          </a:bodyPr>
          <a:lstStyle/>
          <a:p>
            <a:pPr algn="ctr">
              <a:lnSpc>
                <a:spcPct val="110000"/>
              </a:lnSpc>
              <a:spcAft>
                <a:spcPts val="0"/>
              </a:spcAft>
            </a:pPr>
            <a:r>
              <a:rPr sz="1300" b="1">
                <a:solidFill>
                  <a:srgbClr val="245BBA"/>
                </a:solidFill>
                <a:latin typeface="Segoe UI"/>
              </a:rPr>
              <a:t>03</a:t>
            </a:r>
          </a:p>
        </p:txBody>
      </p:sp>
      <p:sp>
        <p:nvSpPr>
          <p:cNvPr id="21" name="TextBox 20"/>
          <p:cNvSpPr txBox="1"/>
          <p:nvPr/>
        </p:nvSpPr>
        <p:spPr>
          <a:xfrm>
            <a:off x="1216152" y="4910328"/>
            <a:ext cx="2322576"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3364F"/>
                </a:solidFill>
                <a:latin typeface="Segoe UI"/>
              </a:rPr>
              <a:t>Kiểm tra căn cứ</a:t>
            </a:r>
          </a:p>
        </p:txBody>
      </p:sp>
      <p:sp>
        <p:nvSpPr>
          <p:cNvPr id="22" name="TextBox 21"/>
          <p:cNvSpPr txBox="1"/>
          <p:nvPr/>
        </p:nvSpPr>
        <p:spPr>
          <a:xfrm>
            <a:off x="1216152" y="5394959"/>
            <a:ext cx="2322576" cy="585216"/>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Tiến độ, nguồn dẫn và bảng số liệu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DEMO TRỰC TIẾP · DỰ KIẾN 5 PHÚT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Trình diễn một yêu cầu liên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07</a:t>
            </a:r>
          </a:p>
        </p:txBody>
      </p:sp>
      <p:sp>
        <p:nvSpPr>
          <p:cNvPr id="9" name="Rounded Rectangle 8"/>
          <p:cNvSpPr/>
          <p:nvPr/>
        </p:nvSpPr>
        <p:spPr>
          <a:xfrm>
            <a:off x="640080" y="2267712"/>
            <a:ext cx="10899648" cy="19385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86968" y="2496312"/>
            <a:ext cx="2212848"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69264" y="2519172"/>
            <a:ext cx="2048255" cy="228600"/>
          </a:xfrm>
          <a:prstGeom prst="rect">
            <a:avLst/>
          </a:prstGeom>
          <a:noFill/>
        </p:spPr>
        <p:txBody>
          <a:bodyPr wrap="square" anchor="t" lIns="22860" rIns="22860" tIns="22860" bIns="22860">
            <a:spAutoFit/>
          </a:bodyPr>
          <a:lstStyle/>
          <a:p>
            <a:pPr algn="l">
              <a:lnSpc>
                <a:spcPct val="110000"/>
              </a:lnSpc>
              <a:spcAft>
                <a:spcPts val="0"/>
              </a:spcAft>
            </a:pPr>
            <a:r>
              <a:rPr sz="1200" b="1">
                <a:solidFill>
                  <a:srgbClr val="7755A2"/>
                </a:solidFill>
                <a:latin typeface="Segoe UI"/>
              </a:rPr>
              <a:t>CHỌN AI TỔNG HỢP</a:t>
            </a:r>
          </a:p>
        </p:txBody>
      </p:sp>
      <p:sp>
        <p:nvSpPr>
          <p:cNvPr id="12" name="TextBox 11"/>
          <p:cNvSpPr txBox="1"/>
          <p:nvPr/>
        </p:nvSpPr>
        <p:spPr>
          <a:xfrm>
            <a:off x="886968" y="2999232"/>
            <a:ext cx="10396728" cy="969264"/>
          </a:xfrm>
          <a:prstGeom prst="rect">
            <a:avLst/>
          </a:prstGeom>
          <a:noFill/>
        </p:spPr>
        <p:txBody>
          <a:bodyPr wrap="square" anchor="t" lIns="22860" rIns="22860" tIns="22860" bIns="22860">
            <a:spAutoFit/>
          </a:bodyPr>
          <a:lstStyle/>
          <a:p>
            <a:pPr algn="l">
              <a:lnSpc>
                <a:spcPct val="110000"/>
              </a:lnSpc>
              <a:spcAft>
                <a:spcPts val="0"/>
              </a:spcAft>
            </a:pPr>
            <a:r>
              <a:rPr sz="2300" b="1">
                <a:solidFill>
                  <a:srgbClr val="23364F"/>
                </a:solidFill>
                <a:latin typeface="Segoe UI"/>
              </a:rPr>
              <a:t>Ngành nào đang thiếu nhiều chỉ tiêu tuyển sinh năm 2026 nhất? Với các ngành đó, tỷ lệ sinh viên bị cảnh báo học vụ và rời trường ở các khóa trước ra sao?</a:t>
            </a:r>
          </a:p>
        </p:txBody>
      </p:sp>
      <p:sp>
        <p:nvSpPr>
          <p:cNvPr id="13" name="TextBox 12"/>
          <p:cNvSpPr txBox="1"/>
          <p:nvPr/>
        </p:nvSpPr>
        <p:spPr>
          <a:xfrm>
            <a:off x="667512" y="4626864"/>
            <a:ext cx="3383280" cy="402336"/>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45BBA"/>
                </a:solidFill>
                <a:latin typeface="Segoe UI"/>
              </a:rPr>
              <a:t>1. Xem kế hoạch</a:t>
            </a:r>
          </a:p>
        </p:txBody>
      </p:sp>
      <p:sp>
        <p:nvSpPr>
          <p:cNvPr id="14" name="TextBox 13"/>
          <p:cNvSpPr txBox="1"/>
          <p:nvPr/>
        </p:nvSpPr>
        <p:spPr>
          <a:xfrm>
            <a:off x="667512" y="5157216"/>
            <a:ext cx="3383280" cy="594360"/>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687A91"/>
                </a:solidFill>
                <a:latin typeface="Segoe UI"/>
              </a:rPr>
              <a:t>Công việc được chia cho AI nào?</a:t>
            </a:r>
          </a:p>
        </p:txBody>
      </p:sp>
      <p:sp>
        <p:nvSpPr>
          <p:cNvPr id="15" name="TextBox 14"/>
          <p:cNvSpPr txBox="1"/>
          <p:nvPr/>
        </p:nvSpPr>
        <p:spPr>
          <a:xfrm>
            <a:off x="4389120" y="4626864"/>
            <a:ext cx="3383280" cy="402336"/>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45BBA"/>
                </a:solidFill>
                <a:latin typeface="Segoe UI"/>
              </a:rPr>
              <a:t>2. Theo dõi phối hợp</a:t>
            </a:r>
          </a:p>
        </p:txBody>
      </p:sp>
      <p:sp>
        <p:nvSpPr>
          <p:cNvPr id="16" name="TextBox 15"/>
          <p:cNvSpPr txBox="1"/>
          <p:nvPr/>
        </p:nvSpPr>
        <p:spPr>
          <a:xfrm>
            <a:off x="4389120" y="5157216"/>
            <a:ext cx="3383280" cy="594360"/>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687A91"/>
                </a:solidFill>
                <a:latin typeface="Segoe UI"/>
              </a:rPr>
              <a:t>AI con làm gì, kết quả nào đã đạt?</a:t>
            </a:r>
          </a:p>
        </p:txBody>
      </p:sp>
      <p:sp>
        <p:nvSpPr>
          <p:cNvPr id="17" name="TextBox 16"/>
          <p:cNvSpPr txBox="1"/>
          <p:nvPr/>
        </p:nvSpPr>
        <p:spPr>
          <a:xfrm>
            <a:off x="8110728" y="4626864"/>
            <a:ext cx="3383280" cy="402336"/>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45BBA"/>
                </a:solidFill>
                <a:latin typeface="Segoe UI"/>
              </a:rPr>
              <a:t>3. Mở căn cứ</a:t>
            </a:r>
          </a:p>
        </p:txBody>
      </p:sp>
      <p:sp>
        <p:nvSpPr>
          <p:cNvPr id="18" name="TextBox 17"/>
          <p:cNvSpPr txBox="1"/>
          <p:nvPr/>
        </p:nvSpPr>
        <p:spPr>
          <a:xfrm>
            <a:off x="8110728" y="5157216"/>
            <a:ext cx="3383280" cy="594360"/>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687A91"/>
                </a:solidFill>
                <a:latin typeface="Segoe UI"/>
              </a:rPr>
              <a:t>Nguồn, thời điểm dữ liệu, giới hạn</a:t>
            </a:r>
          </a:p>
        </p:txBody>
      </p:sp>
      <p:sp>
        <p:nvSpPr>
          <p:cNvPr id="19" name="TextBox 18"/>
          <p:cNvSpPr txBox="1"/>
          <p:nvPr/>
        </p:nvSpPr>
        <p:spPr>
          <a:xfrm>
            <a:off x="694944" y="5971032"/>
            <a:ext cx="10835640" cy="228600"/>
          </a:xfrm>
          <a:prstGeom prst="rect">
            <a:avLst/>
          </a:prstGeom>
          <a:noFill/>
        </p:spPr>
        <p:txBody>
          <a:bodyPr wrap="square" anchor="t" lIns="22860" rIns="22860" tIns="22860" bIns="22860">
            <a:spAutoFit/>
          </a:bodyPr>
          <a:lstStyle/>
          <a:p>
            <a:pPr algn="l">
              <a:lnSpc>
                <a:spcPct val="110000"/>
              </a:lnSpc>
              <a:spcAft>
                <a:spcPts val="0"/>
              </a:spcAft>
            </a:pPr>
            <a:r>
              <a:rPr sz="1200" b="0">
                <a:solidFill>
                  <a:srgbClr val="687A91"/>
                </a:solidFill>
                <a:latin typeface="Segoe UI"/>
              </a:rPr>
              <a:t>Nếu cần dự phòng: phụ lục B1 là ảnh kết quả đã lưu, không phải một lần chạy mới.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MỘT AI LĨNH VỰC</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Tuyển sinh: nhìn rõ số liệu cần xử lý</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08</a:t>
            </a:r>
          </a:p>
        </p:txBody>
      </p:sp>
      <p:sp>
        <p:nvSpPr>
          <p:cNvPr id="9" name="Rounded Rectangle 8"/>
          <p:cNvSpPr/>
          <p:nvPr/>
        </p:nvSpPr>
        <p:spPr>
          <a:xfrm>
            <a:off x="1217066" y="2071115"/>
            <a:ext cx="6472123" cy="4069080"/>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answer-admissions.png"/>
          <p:cNvPicPr>
            <a:picLocks noChangeAspect="1"/>
          </p:cNvPicPr>
          <p:nvPr/>
        </p:nvPicPr>
        <p:blipFill>
          <a:blip r:embed="rId3"/>
          <a:stretch>
            <a:fillRect/>
          </a:stretch>
        </p:blipFill>
        <p:spPr>
          <a:xfrm>
            <a:off x="1249070" y="2103120"/>
            <a:ext cx="6408115" cy="4005072"/>
          </a:xfrm>
          <a:prstGeom prst="rect">
            <a:avLst/>
          </a:prstGeom>
        </p:spPr>
      </p:pic>
      <p:sp>
        <p:nvSpPr>
          <p:cNvPr id="11" name="TextBox 10"/>
          <p:cNvSpPr txBox="1"/>
          <p:nvPr/>
        </p:nvSpPr>
        <p:spPr>
          <a:xfrm>
            <a:off x="667512" y="6199631"/>
            <a:ext cx="7571231" cy="411480"/>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Ảnh từ lượt chạy đã lưu · Số liệu nghiệp vụ giả lập</a:t>
            </a:r>
          </a:p>
        </p:txBody>
      </p:sp>
      <p:sp>
        <p:nvSpPr>
          <p:cNvPr id="12" name="TextBox 11"/>
          <p:cNvSpPr txBox="1"/>
          <p:nvPr/>
        </p:nvSpPr>
        <p:spPr>
          <a:xfrm>
            <a:off x="8567928" y="2487168"/>
            <a:ext cx="2834640" cy="1005840"/>
          </a:xfrm>
          <a:prstGeom prst="rect">
            <a:avLst/>
          </a:prstGeom>
          <a:noFill/>
        </p:spPr>
        <p:txBody>
          <a:bodyPr wrap="square" anchor="t" lIns="22860" rIns="22860" tIns="22860" bIns="22860">
            <a:spAutoFit/>
          </a:bodyPr>
          <a:lstStyle/>
          <a:p>
            <a:pPr algn="l">
              <a:lnSpc>
                <a:spcPct val="110000"/>
              </a:lnSpc>
              <a:spcAft>
                <a:spcPts val="500"/>
              </a:spcAft>
            </a:pPr>
            <a:r>
              <a:rPr sz="2300" b="1">
                <a:solidFill>
                  <a:srgbClr val="40836F"/>
                </a:solidFill>
                <a:latin typeface="Segoe UI"/>
              </a:rPr>
              <a:t>Từ câu hỏi</a:t>
            </a:r>
          </a:p>
          <a:p>
            <a:pPr algn="l">
              <a:lnSpc>
                <a:spcPct val="110000"/>
              </a:lnSpc>
              <a:spcAft>
                <a:spcPts val="500"/>
              </a:spcAft>
            </a:pPr>
            <a:r>
              <a:rPr sz="2300" b="1">
                <a:solidFill>
                  <a:srgbClr val="40836F"/>
                </a:solidFill>
                <a:latin typeface="Segoe UI"/>
              </a:rPr>
              <a:t>đến đầu việc</a:t>
            </a:r>
          </a:p>
        </p:txBody>
      </p:sp>
      <p:sp>
        <p:nvSpPr>
          <p:cNvPr id="13" name="TextBox 12"/>
          <p:cNvSpPr txBox="1"/>
          <p:nvPr/>
        </p:nvSpPr>
        <p:spPr>
          <a:xfrm>
            <a:off x="8567928" y="3694176"/>
            <a:ext cx="2834640" cy="1609344"/>
          </a:xfrm>
          <a:prstGeom prst="rect">
            <a:avLst/>
          </a:prstGeom>
          <a:noFill/>
        </p:spPr>
        <p:txBody>
          <a:bodyPr wrap="square" anchor="t" lIns="22860" rIns="22860" tIns="22860" bIns="22860">
            <a:spAutoFit/>
          </a:bodyPr>
          <a:lstStyle/>
          <a:p>
            <a:pPr algn="l">
              <a:lnSpc>
                <a:spcPct val="110000"/>
              </a:lnSpc>
              <a:spcAft>
                <a:spcPts val="500"/>
              </a:spcAft>
            </a:pPr>
            <a:r>
              <a:rPr sz="1800" b="0">
                <a:solidFill>
                  <a:srgbClr val="23364F"/>
                </a:solidFill>
                <a:latin typeface="Segoe UI"/>
              </a:rPr>
              <a:t>Số xác nhận theo ngành</a:t>
            </a:r>
          </a:p>
          <a:p>
            <a:pPr algn="l">
              <a:lnSpc>
                <a:spcPct val="110000"/>
              </a:lnSpc>
              <a:spcAft>
                <a:spcPts val="500"/>
              </a:spcAft>
            </a:pPr>
            <a:r>
              <a:rPr sz="1800" b="0">
                <a:solidFill>
                  <a:srgbClr val="23364F"/>
                </a:solidFill>
                <a:latin typeface="Segoe UI"/>
              </a:rPr>
              <a:t>Phần chỉ tiêu còn lại</a:t>
            </a:r>
          </a:p>
          <a:p>
            <a:pPr algn="l">
              <a:lnSpc>
                <a:spcPct val="110000"/>
              </a:lnSpc>
              <a:spcAft>
                <a:spcPts val="500"/>
              </a:spcAft>
            </a:pPr>
            <a:r>
              <a:rPr sz="1800" b="0">
                <a:solidFill>
                  <a:srgbClr val="23364F"/>
                </a:solidFill>
                <a:latin typeface="Segoe UI"/>
              </a:rPr>
              <a:t>Mốc dữ liệu rõ ràng</a:t>
            </a:r>
          </a:p>
          <a:p>
            <a:pPr algn="l">
              <a:lnSpc>
                <a:spcPct val="110000"/>
              </a:lnSpc>
              <a:spcAft>
                <a:spcPts val="500"/>
              </a:spcAft>
            </a:pPr>
            <a:r>
              <a:rPr sz="1800" b="0">
                <a:solidFill>
                  <a:srgbClr val="23364F"/>
                </a:solidFill>
                <a:latin typeface="Segoe UI"/>
              </a:rPr>
              <a:t>Nguồn để kiểm tra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MỘT AI LĨNH VỰC</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Đào tạo: đặt số liệu trong đúng bối cảnh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09</a:t>
            </a:r>
          </a:p>
        </p:txBody>
      </p:sp>
      <p:sp>
        <p:nvSpPr>
          <p:cNvPr id="9" name="Rounded Rectangle 8"/>
          <p:cNvSpPr/>
          <p:nvPr/>
        </p:nvSpPr>
        <p:spPr>
          <a:xfrm>
            <a:off x="1217066" y="2071115"/>
            <a:ext cx="6472123" cy="4069080"/>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answer-academic.png"/>
          <p:cNvPicPr>
            <a:picLocks noChangeAspect="1"/>
          </p:cNvPicPr>
          <p:nvPr/>
        </p:nvPicPr>
        <p:blipFill>
          <a:blip r:embed="rId3"/>
          <a:stretch>
            <a:fillRect/>
          </a:stretch>
        </p:blipFill>
        <p:spPr>
          <a:xfrm>
            <a:off x="1249070" y="2103120"/>
            <a:ext cx="6408115" cy="4005072"/>
          </a:xfrm>
          <a:prstGeom prst="rect">
            <a:avLst/>
          </a:prstGeom>
        </p:spPr>
      </p:pic>
      <p:sp>
        <p:nvSpPr>
          <p:cNvPr id="11" name="TextBox 10"/>
          <p:cNvSpPr txBox="1"/>
          <p:nvPr/>
        </p:nvSpPr>
        <p:spPr>
          <a:xfrm>
            <a:off x="667512" y="6199631"/>
            <a:ext cx="7571231" cy="411480"/>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Ảnh từ lượt chạy đã lưu · Số liệu nghiệp vụ giả lập</a:t>
            </a:r>
          </a:p>
        </p:txBody>
      </p:sp>
      <p:sp>
        <p:nvSpPr>
          <p:cNvPr id="12" name="TextBox 11"/>
          <p:cNvSpPr txBox="1"/>
          <p:nvPr/>
        </p:nvSpPr>
        <p:spPr>
          <a:xfrm>
            <a:off x="8567928" y="2487168"/>
            <a:ext cx="2834640" cy="1371600"/>
          </a:xfrm>
          <a:prstGeom prst="rect">
            <a:avLst/>
          </a:prstGeom>
          <a:noFill/>
        </p:spPr>
        <p:txBody>
          <a:bodyPr wrap="square" anchor="t" lIns="22860" rIns="22860" tIns="22860" bIns="22860">
            <a:spAutoFit/>
          </a:bodyPr>
          <a:lstStyle/>
          <a:p>
            <a:pPr algn="l">
              <a:lnSpc>
                <a:spcPct val="110000"/>
              </a:lnSpc>
              <a:spcAft>
                <a:spcPts val="500"/>
              </a:spcAft>
            </a:pPr>
            <a:r>
              <a:rPr sz="2300" b="1">
                <a:solidFill>
                  <a:srgbClr val="A76B27"/>
                </a:solidFill>
                <a:latin typeface="Segoe UI"/>
              </a:rPr>
              <a:t>Đúng ngành.</a:t>
            </a:r>
          </a:p>
          <a:p>
            <a:pPr algn="l">
              <a:lnSpc>
                <a:spcPct val="110000"/>
              </a:lnSpc>
              <a:spcAft>
                <a:spcPts val="500"/>
              </a:spcAft>
            </a:pPr>
            <a:r>
              <a:rPr sz="2300" b="1">
                <a:solidFill>
                  <a:srgbClr val="A76B27"/>
                </a:solidFill>
                <a:latin typeface="Segoe UI"/>
              </a:rPr>
              <a:t>Đúng khóa.</a:t>
            </a:r>
          </a:p>
          <a:p>
            <a:pPr algn="l">
              <a:lnSpc>
                <a:spcPct val="110000"/>
              </a:lnSpc>
              <a:spcAft>
                <a:spcPts val="500"/>
              </a:spcAft>
            </a:pPr>
            <a:r>
              <a:rPr sz="2300" b="1">
                <a:solidFill>
                  <a:srgbClr val="A76B27"/>
                </a:solidFill>
                <a:latin typeface="Segoe UI"/>
              </a:rPr>
              <a:t>Đúng học kỳ.</a:t>
            </a:r>
          </a:p>
        </p:txBody>
      </p:sp>
      <p:sp>
        <p:nvSpPr>
          <p:cNvPr id="13" name="TextBox 12"/>
          <p:cNvSpPr txBox="1"/>
          <p:nvPr/>
        </p:nvSpPr>
        <p:spPr>
          <a:xfrm>
            <a:off x="8567928" y="4078224"/>
            <a:ext cx="2834640" cy="1463040"/>
          </a:xfrm>
          <a:prstGeom prst="rect">
            <a:avLst/>
          </a:prstGeom>
          <a:noFill/>
        </p:spPr>
        <p:txBody>
          <a:bodyPr wrap="square" anchor="t" lIns="22860" rIns="22860" tIns="22860" bIns="22860">
            <a:spAutoFit/>
          </a:bodyPr>
          <a:lstStyle/>
          <a:p>
            <a:pPr algn="l">
              <a:lnSpc>
                <a:spcPct val="110000"/>
              </a:lnSpc>
              <a:spcAft>
                <a:spcPts val="500"/>
              </a:spcAft>
            </a:pPr>
            <a:r>
              <a:rPr sz="1800" b="0">
                <a:solidFill>
                  <a:srgbClr val="23364F"/>
                </a:solidFill>
                <a:latin typeface="Segoe UI"/>
              </a:rPr>
              <a:t>Cảnh báo học vụ</a:t>
            </a:r>
          </a:p>
          <a:p>
            <a:pPr algn="l">
              <a:lnSpc>
                <a:spcPct val="110000"/>
              </a:lnSpc>
              <a:spcAft>
                <a:spcPts val="500"/>
              </a:spcAft>
            </a:pPr>
            <a:r>
              <a:rPr sz="1800" b="0">
                <a:solidFill>
                  <a:srgbClr val="23364F"/>
                </a:solidFill>
                <a:latin typeface="Segoe UI"/>
              </a:rPr>
              <a:t>Kết quả học tập</a:t>
            </a:r>
          </a:p>
          <a:p>
            <a:pPr algn="l">
              <a:lnSpc>
                <a:spcPct val="110000"/>
              </a:lnSpc>
              <a:spcAft>
                <a:spcPts val="500"/>
              </a:spcAft>
            </a:pPr>
            <a:r>
              <a:rPr sz="1800" b="0">
                <a:solidFill>
                  <a:srgbClr val="23364F"/>
                </a:solidFill>
                <a:latin typeface="Segoe UI"/>
              </a:rPr>
              <a:t>Lớp học phần, lịch thi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THIẾT KẾ LUỒNG DỮ LIỆU</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Tách số tổng hợp khỏi danh sách cá nhân</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10</a:t>
            </a:r>
          </a:p>
        </p:txBody>
      </p:sp>
      <p:sp>
        <p:nvSpPr>
          <p:cNvPr id="9" name="Rounded Rectangle 8"/>
          <p:cNvSpPr/>
          <p:nvPr/>
        </p:nvSpPr>
        <p:spPr>
          <a:xfrm>
            <a:off x="713232" y="2971800"/>
            <a:ext cx="2926080" cy="14173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731520" y="3090672"/>
            <a:ext cx="41148" cy="1179576"/>
          </a:xfrm>
          <a:prstGeom prst="rect">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77824" y="3081528"/>
            <a:ext cx="2596896"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3364F"/>
                </a:solidFill>
                <a:latin typeface="Segoe UI"/>
              </a:rPr>
              <a:t>CSDL giả lập</a:t>
            </a:r>
          </a:p>
        </p:txBody>
      </p:sp>
      <p:sp>
        <p:nvSpPr>
          <p:cNvPr id="12" name="TextBox 11"/>
          <p:cNvSpPr txBox="1"/>
          <p:nvPr/>
        </p:nvSpPr>
        <p:spPr>
          <a:xfrm>
            <a:off x="877824" y="3557016"/>
            <a:ext cx="2596896" cy="758952"/>
          </a:xfrm>
          <a:prstGeom prst="rect">
            <a:avLst/>
          </a:prstGeom>
          <a:noFill/>
        </p:spPr>
        <p:txBody>
          <a:bodyPr wrap="square" anchor="t" lIns="22860" rIns="22860" tIns="22860" bIns="22860">
            <a:spAutoFit/>
          </a:bodyPr>
          <a:lstStyle/>
          <a:p>
            <a:pPr algn="l">
              <a:lnSpc>
                <a:spcPct val="110000"/>
              </a:lnSpc>
              <a:spcAft>
                <a:spcPts val="500"/>
              </a:spcAft>
            </a:pPr>
            <a:r>
              <a:rPr sz="1400" b="0">
                <a:solidFill>
                  <a:srgbClr val="687A91"/>
                </a:solidFill>
                <a:latin typeface="Segoe UI"/>
              </a:rPr>
              <a:t>Kết nối chỉ đọc</a:t>
            </a:r>
          </a:p>
          <a:p>
            <a:pPr algn="l">
              <a:lnSpc>
                <a:spcPct val="110000"/>
              </a:lnSpc>
              <a:spcAft>
                <a:spcPts val="500"/>
              </a:spcAft>
            </a:pPr>
            <a:r>
              <a:rPr sz="1400" b="0">
                <a:solidFill>
                  <a:srgbClr val="687A91"/>
                </a:solidFill>
                <a:latin typeface="Segoe UI"/>
              </a:rPr>
              <a:t>Truy vấn được định sẵn</a:t>
            </a:r>
          </a:p>
        </p:txBody>
      </p:sp>
      <p:cxnSp>
        <p:nvCxnSpPr>
          <p:cNvPr id="13" name="Connector 12"/>
          <p:cNvCxnSpPr/>
          <p:nvPr/>
        </p:nvCxnSpPr>
        <p:spPr>
          <a:xfrm>
            <a:off x="3639312" y="3447288"/>
            <a:ext cx="932688" cy="0"/>
          </a:xfrm>
          <a:prstGeom prst="line">
            <a:avLst/>
          </a:prstGeom>
          <a:ln w="2286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4572000" y="2743200"/>
            <a:ext cx="0" cy="2212848"/>
          </a:xfrm>
          <a:prstGeom prst="line">
            <a:avLst/>
          </a:prstGeom>
          <a:ln w="22860">
            <a:solidFill>
              <a:srgbClr val="245BBA"/>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4572000" y="2743200"/>
            <a:ext cx="1005840" cy="0"/>
          </a:xfrm>
          <a:prstGeom prst="line">
            <a:avLst/>
          </a:prstGeom>
          <a:ln w="22860">
            <a:solidFill>
              <a:srgbClr val="40836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4572000" y="4956048"/>
            <a:ext cx="1005840" cy="0"/>
          </a:xfrm>
          <a:prstGeom prst="line">
            <a:avLst/>
          </a:prstGeom>
          <a:ln w="22860">
            <a:solidFill>
              <a:srgbClr val="A76B27"/>
            </a:solidFill>
            <a:tailEnd type="triangle"/>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5577840" y="2276856"/>
            <a:ext cx="5870448" cy="128016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596127" y="2395728"/>
            <a:ext cx="41148" cy="1042415"/>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742431" y="2386584"/>
            <a:ext cx="5541264"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3364F"/>
                </a:solidFill>
                <a:latin typeface="Segoe UI"/>
              </a:rPr>
              <a:t>Số lượng và thống kê → AI</a:t>
            </a:r>
          </a:p>
        </p:txBody>
      </p:sp>
      <p:sp>
        <p:nvSpPr>
          <p:cNvPr id="20" name="TextBox 19"/>
          <p:cNvSpPr txBox="1"/>
          <p:nvPr/>
        </p:nvSpPr>
        <p:spPr>
          <a:xfrm>
            <a:off x="5742431" y="2862072"/>
            <a:ext cx="5541264" cy="62179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Phân tích, giải thích, soạn báo cáo</a:t>
            </a:r>
          </a:p>
        </p:txBody>
      </p:sp>
      <p:sp>
        <p:nvSpPr>
          <p:cNvPr id="21" name="Rounded Rectangle 20"/>
          <p:cNvSpPr/>
          <p:nvPr/>
        </p:nvSpPr>
        <p:spPr>
          <a:xfrm>
            <a:off x="5577840" y="4279392"/>
            <a:ext cx="5870448" cy="128016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5596127" y="4398264"/>
            <a:ext cx="41148" cy="1042415"/>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742431" y="4389120"/>
            <a:ext cx="5541264" cy="384048"/>
          </a:xfrm>
          <a:prstGeom prst="rect">
            <a:avLst/>
          </a:prstGeom>
          <a:noFill/>
        </p:spPr>
        <p:txBody>
          <a:bodyPr wrap="square" anchor="t" lIns="22860" rIns="22860" tIns="22860" bIns="22860">
            <a:spAutoFit/>
          </a:bodyPr>
          <a:lstStyle/>
          <a:p>
            <a:pPr algn="l">
              <a:lnSpc>
                <a:spcPct val="110000"/>
              </a:lnSpc>
              <a:spcAft>
                <a:spcPts val="0"/>
              </a:spcAft>
            </a:pPr>
            <a:r>
              <a:rPr sz="1900" b="1">
                <a:solidFill>
                  <a:srgbClr val="23364F"/>
                </a:solidFill>
                <a:latin typeface="Segoe UI"/>
              </a:rPr>
              <a:t>Danh sách từng người → Giao diện</a:t>
            </a:r>
          </a:p>
        </p:txBody>
      </p:sp>
      <p:sp>
        <p:nvSpPr>
          <p:cNvPr id="24" name="TextBox 23"/>
          <p:cNvSpPr txBox="1"/>
          <p:nvPr/>
        </p:nvSpPr>
        <p:spPr>
          <a:xfrm>
            <a:off x="5742431" y="4864607"/>
            <a:ext cx="5541264" cy="621792"/>
          </a:xfrm>
          <a:prstGeom prst="rect">
            <a:avLst/>
          </a:prstGeom>
          <a:noFill/>
        </p:spPr>
        <p:txBody>
          <a:bodyPr wrap="square" anchor="t" lIns="22860" rIns="22860" tIns="22860" bIns="22860">
            <a:spAutoFit/>
          </a:bodyPr>
          <a:lstStyle/>
          <a:p>
            <a:pPr algn="l">
              <a:lnSpc>
                <a:spcPct val="110000"/>
              </a:lnSpc>
              <a:spcAft>
                <a:spcPts val="0"/>
              </a:spcAft>
            </a:pPr>
            <a:r>
              <a:rPr sz="1400" b="0">
                <a:solidFill>
                  <a:srgbClr val="687A91"/>
                </a:solidFill>
                <a:latin typeface="Segoe UI"/>
              </a:rPr>
              <a:t>Xem bảng và tải CSV; không đưa các hàng này vào prompt</a:t>
            </a:r>
          </a:p>
        </p:txBody>
      </p:sp>
      <p:sp>
        <p:nvSpPr>
          <p:cNvPr id="25" name="TextBox 24"/>
          <p:cNvSpPr txBox="1"/>
          <p:nvPr/>
        </p:nvSpPr>
        <p:spPr>
          <a:xfrm>
            <a:off x="740664" y="5925312"/>
            <a:ext cx="10753344" cy="283464"/>
          </a:xfrm>
          <a:prstGeom prst="rect">
            <a:avLst/>
          </a:prstGeom>
          <a:noFill/>
        </p:spPr>
        <p:txBody>
          <a:bodyPr wrap="square" anchor="t" lIns="22860" rIns="22860" tIns="22860" bIns="22860">
            <a:spAutoFit/>
          </a:bodyPr>
          <a:lstStyle/>
          <a:p>
            <a:pPr algn="l">
              <a:lnSpc>
                <a:spcPct val="110000"/>
              </a:lnSpc>
              <a:spcAft>
                <a:spcPts val="0"/>
              </a:spcAft>
            </a:pPr>
            <a:r>
              <a:rPr sz="1500" b="1">
                <a:solidFill>
                  <a:srgbClr val="A76B27"/>
                </a:solidFill>
                <a:latin typeface="Segoe UI"/>
              </a:rPr>
              <a:t>Cần bổ sung phân quyền người dùng trước khi đưa dữ liệu cá nhân thật vào vận hành.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KẾT QUẢ VÀ GIỚI HẠN</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Đã kiểm tra — nhưng chưa phải nghiệm thu độc lập</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11</a:t>
            </a:r>
          </a:p>
        </p:txBody>
      </p:sp>
      <p:sp>
        <p:nvSpPr>
          <p:cNvPr id="9" name="Rounded Rectangle 8"/>
          <p:cNvSpPr/>
          <p:nvPr/>
        </p:nvSpPr>
        <p:spPr>
          <a:xfrm>
            <a:off x="667512" y="2267712"/>
            <a:ext cx="3218688" cy="3429000"/>
          </a:xfrm>
          <a:prstGeom prst="roundRect">
            <a:avLst>
              <a:gd name="adj" fmla="val 12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50976" y="2587752"/>
            <a:ext cx="2642616" cy="987552"/>
          </a:xfrm>
          <a:prstGeom prst="rect">
            <a:avLst/>
          </a:prstGeom>
          <a:noFill/>
        </p:spPr>
        <p:txBody>
          <a:bodyPr wrap="square" anchor="t" lIns="22860" rIns="22860" tIns="22860" bIns="22860">
            <a:spAutoFit/>
          </a:bodyPr>
          <a:lstStyle/>
          <a:p>
            <a:pPr algn="l">
              <a:lnSpc>
                <a:spcPct val="110000"/>
              </a:lnSpc>
              <a:spcAft>
                <a:spcPts val="0"/>
              </a:spcAft>
            </a:pPr>
            <a:r>
              <a:rPr sz="5800" b="1">
                <a:solidFill>
                  <a:srgbClr val="FFFFFF"/>
                </a:solidFill>
                <a:latin typeface="Segoe UI"/>
              </a:rPr>
              <a:t>159</a:t>
            </a:r>
          </a:p>
        </p:txBody>
      </p:sp>
      <p:sp>
        <p:nvSpPr>
          <p:cNvPr id="11" name="TextBox 10"/>
          <p:cNvSpPr txBox="1"/>
          <p:nvPr/>
        </p:nvSpPr>
        <p:spPr>
          <a:xfrm>
            <a:off x="950976" y="3758184"/>
            <a:ext cx="2642616" cy="795528"/>
          </a:xfrm>
          <a:prstGeom prst="rect">
            <a:avLst/>
          </a:prstGeom>
          <a:noFill/>
        </p:spPr>
        <p:txBody>
          <a:bodyPr wrap="square" anchor="t" lIns="22860" rIns="22860" tIns="22860" bIns="22860">
            <a:spAutoFit/>
          </a:bodyPr>
          <a:lstStyle/>
          <a:p>
            <a:pPr algn="l">
              <a:lnSpc>
                <a:spcPct val="110000"/>
              </a:lnSpc>
              <a:spcAft>
                <a:spcPts val="500"/>
              </a:spcAft>
            </a:pPr>
            <a:r>
              <a:rPr sz="2400" b="1">
                <a:solidFill>
                  <a:srgbClr val="FFFFFF"/>
                </a:solidFill>
                <a:latin typeface="Segoe UI"/>
              </a:rPr>
              <a:t>Kiểm thử</a:t>
            </a:r>
          </a:p>
          <a:p>
            <a:pPr algn="l">
              <a:lnSpc>
                <a:spcPct val="110000"/>
              </a:lnSpc>
              <a:spcAft>
                <a:spcPts val="500"/>
              </a:spcAft>
            </a:pPr>
            <a:r>
              <a:rPr sz="2400" b="1">
                <a:solidFill>
                  <a:srgbClr val="FFFFFF"/>
                </a:solidFill>
                <a:latin typeface="Segoe UI"/>
              </a:rPr>
              <a:t>phần mềm đạt</a:t>
            </a:r>
          </a:p>
        </p:txBody>
      </p:sp>
      <p:sp>
        <p:nvSpPr>
          <p:cNvPr id="12" name="TextBox 11"/>
          <p:cNvSpPr txBox="1"/>
          <p:nvPr/>
        </p:nvSpPr>
        <p:spPr>
          <a:xfrm>
            <a:off x="950976" y="4937760"/>
            <a:ext cx="2642616" cy="457200"/>
          </a:xfrm>
          <a:prstGeom prst="rect">
            <a:avLst/>
          </a:prstGeom>
          <a:noFill/>
        </p:spPr>
        <p:txBody>
          <a:bodyPr wrap="square" anchor="t" lIns="22860" rIns="22860" tIns="22860" bIns="22860">
            <a:spAutoFit/>
          </a:bodyPr>
          <a:lstStyle/>
          <a:p>
            <a:pPr algn="l">
              <a:lnSpc>
                <a:spcPct val="110000"/>
              </a:lnSpc>
              <a:spcAft>
                <a:spcPts val="0"/>
              </a:spcAft>
            </a:pPr>
            <a:r>
              <a:rPr sz="1200" b="0">
                <a:solidFill>
                  <a:srgbClr val="AFBFDA"/>
                </a:solidFill>
                <a:latin typeface="Segoe UI"/>
              </a:rPr>
              <a:t>Xác minh cục bộ 29/9/2026</a:t>
            </a:r>
          </a:p>
        </p:txBody>
      </p:sp>
      <p:sp>
        <p:nvSpPr>
          <p:cNvPr id="13" name="TextBox 12"/>
          <p:cNvSpPr txBox="1"/>
          <p:nvPr/>
        </p:nvSpPr>
        <p:spPr>
          <a:xfrm>
            <a:off x="4334256" y="2340864"/>
            <a:ext cx="4919472" cy="374904"/>
          </a:xfrm>
          <a:prstGeom prst="rect">
            <a:avLst/>
          </a:prstGeom>
          <a:noFill/>
        </p:spPr>
        <p:txBody>
          <a:bodyPr wrap="square" anchor="t" lIns="22860" rIns="22860" tIns="22860" bIns="22860">
            <a:spAutoFit/>
          </a:bodyPr>
          <a:lstStyle/>
          <a:p>
            <a:pPr algn="l">
              <a:lnSpc>
                <a:spcPct val="110000"/>
              </a:lnSpc>
              <a:spcAft>
                <a:spcPts val="0"/>
              </a:spcAft>
            </a:pPr>
            <a:r>
              <a:rPr sz="1900" b="0">
                <a:solidFill>
                  <a:srgbClr val="23364F"/>
                </a:solidFill>
                <a:latin typeface="Segoe UI"/>
              </a:rPr>
              <a:t>Văn bản tuyển sinh</a:t>
            </a:r>
          </a:p>
        </p:txBody>
      </p:sp>
      <p:sp>
        <p:nvSpPr>
          <p:cNvPr id="14" name="TextBox 13"/>
          <p:cNvSpPr txBox="1"/>
          <p:nvPr/>
        </p:nvSpPr>
        <p:spPr>
          <a:xfrm>
            <a:off x="9738360" y="2340864"/>
            <a:ext cx="1426464" cy="374904"/>
          </a:xfrm>
          <a:prstGeom prst="rect">
            <a:avLst/>
          </a:prstGeom>
          <a:noFill/>
        </p:spPr>
        <p:txBody>
          <a:bodyPr wrap="square" anchor="t" lIns="22860" rIns="22860" tIns="22860" bIns="22860">
            <a:spAutoFit/>
          </a:bodyPr>
          <a:lstStyle/>
          <a:p>
            <a:pPr algn="r">
              <a:lnSpc>
                <a:spcPct val="110000"/>
              </a:lnSpc>
              <a:spcAft>
                <a:spcPts val="0"/>
              </a:spcAft>
            </a:pPr>
            <a:r>
              <a:rPr sz="2300" b="1">
                <a:solidFill>
                  <a:srgbClr val="245BBA"/>
                </a:solidFill>
                <a:latin typeface="Segoe UI"/>
              </a:rPr>
              <a:t>30 / 30</a:t>
            </a:r>
          </a:p>
        </p:txBody>
      </p:sp>
      <p:cxnSp>
        <p:nvCxnSpPr>
          <p:cNvPr id="15" name="Connector 14"/>
          <p:cNvCxnSpPr/>
          <p:nvPr/>
        </p:nvCxnSpPr>
        <p:spPr>
          <a:xfrm>
            <a:off x="4352544" y="2852928"/>
            <a:ext cx="6867144"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4334256" y="3054096"/>
            <a:ext cx="4919472" cy="374904"/>
          </a:xfrm>
          <a:prstGeom prst="rect">
            <a:avLst/>
          </a:prstGeom>
          <a:noFill/>
        </p:spPr>
        <p:txBody>
          <a:bodyPr wrap="square" anchor="t" lIns="22860" rIns="22860" tIns="22860" bIns="22860">
            <a:spAutoFit/>
          </a:bodyPr>
          <a:lstStyle/>
          <a:p>
            <a:pPr algn="l">
              <a:lnSpc>
                <a:spcPct val="110000"/>
              </a:lnSpc>
              <a:spcAft>
                <a:spcPts val="0"/>
              </a:spcAft>
            </a:pPr>
            <a:r>
              <a:rPr sz="1900" b="0">
                <a:solidFill>
                  <a:srgbClr val="23364F"/>
                </a:solidFill>
                <a:latin typeface="Segoe UI"/>
              </a:rPr>
              <a:t>Dữ liệu tuyển sinh giả lập</a:t>
            </a:r>
          </a:p>
        </p:txBody>
      </p:sp>
      <p:sp>
        <p:nvSpPr>
          <p:cNvPr id="17" name="TextBox 16"/>
          <p:cNvSpPr txBox="1"/>
          <p:nvPr/>
        </p:nvSpPr>
        <p:spPr>
          <a:xfrm>
            <a:off x="9738360" y="3054096"/>
            <a:ext cx="1426464" cy="374904"/>
          </a:xfrm>
          <a:prstGeom prst="rect">
            <a:avLst/>
          </a:prstGeom>
          <a:noFill/>
        </p:spPr>
        <p:txBody>
          <a:bodyPr wrap="square" anchor="t" lIns="22860" rIns="22860" tIns="22860" bIns="22860">
            <a:spAutoFit/>
          </a:bodyPr>
          <a:lstStyle/>
          <a:p>
            <a:pPr algn="r">
              <a:lnSpc>
                <a:spcPct val="110000"/>
              </a:lnSpc>
              <a:spcAft>
                <a:spcPts val="0"/>
              </a:spcAft>
            </a:pPr>
            <a:r>
              <a:rPr sz="2300" b="1">
                <a:solidFill>
                  <a:srgbClr val="245BBA"/>
                </a:solidFill>
                <a:latin typeface="Segoe UI"/>
              </a:rPr>
              <a:t>14 / 14</a:t>
            </a:r>
          </a:p>
        </p:txBody>
      </p:sp>
      <p:cxnSp>
        <p:nvCxnSpPr>
          <p:cNvPr id="18" name="Connector 17"/>
          <p:cNvCxnSpPr/>
          <p:nvPr/>
        </p:nvCxnSpPr>
        <p:spPr>
          <a:xfrm>
            <a:off x="4352544" y="3566160"/>
            <a:ext cx="6867144"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34256" y="3767328"/>
            <a:ext cx="4919472" cy="374904"/>
          </a:xfrm>
          <a:prstGeom prst="rect">
            <a:avLst/>
          </a:prstGeom>
          <a:noFill/>
        </p:spPr>
        <p:txBody>
          <a:bodyPr wrap="square" anchor="t" lIns="22860" rIns="22860" tIns="22860" bIns="22860">
            <a:spAutoFit/>
          </a:bodyPr>
          <a:lstStyle/>
          <a:p>
            <a:pPr algn="l">
              <a:lnSpc>
                <a:spcPct val="110000"/>
              </a:lnSpc>
              <a:spcAft>
                <a:spcPts val="0"/>
              </a:spcAft>
            </a:pPr>
            <a:r>
              <a:rPr sz="1900" b="0">
                <a:solidFill>
                  <a:srgbClr val="23364F"/>
                </a:solidFill>
                <a:latin typeface="Segoe UI"/>
              </a:rPr>
              <a:t>Đào tạo giả lập</a:t>
            </a:r>
          </a:p>
        </p:txBody>
      </p:sp>
      <p:sp>
        <p:nvSpPr>
          <p:cNvPr id="20" name="TextBox 19"/>
          <p:cNvSpPr txBox="1"/>
          <p:nvPr/>
        </p:nvSpPr>
        <p:spPr>
          <a:xfrm>
            <a:off x="9738360" y="3767328"/>
            <a:ext cx="1426464" cy="374904"/>
          </a:xfrm>
          <a:prstGeom prst="rect">
            <a:avLst/>
          </a:prstGeom>
          <a:noFill/>
        </p:spPr>
        <p:txBody>
          <a:bodyPr wrap="square" anchor="t" lIns="22860" rIns="22860" tIns="22860" bIns="22860">
            <a:spAutoFit/>
          </a:bodyPr>
          <a:lstStyle/>
          <a:p>
            <a:pPr algn="r">
              <a:lnSpc>
                <a:spcPct val="110000"/>
              </a:lnSpc>
              <a:spcAft>
                <a:spcPts val="0"/>
              </a:spcAft>
            </a:pPr>
            <a:r>
              <a:rPr sz="2300" b="1">
                <a:solidFill>
                  <a:srgbClr val="245BBA"/>
                </a:solidFill>
                <a:latin typeface="Segoe UI"/>
              </a:rPr>
              <a:t>10 / 10</a:t>
            </a:r>
          </a:p>
        </p:txBody>
      </p:sp>
      <p:cxnSp>
        <p:nvCxnSpPr>
          <p:cNvPr id="21" name="Connector 20"/>
          <p:cNvCxnSpPr/>
          <p:nvPr/>
        </p:nvCxnSpPr>
        <p:spPr>
          <a:xfrm>
            <a:off x="4352544" y="4279392"/>
            <a:ext cx="6867144"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4334256" y="4480560"/>
            <a:ext cx="4919472" cy="374904"/>
          </a:xfrm>
          <a:prstGeom prst="rect">
            <a:avLst/>
          </a:prstGeom>
          <a:noFill/>
        </p:spPr>
        <p:txBody>
          <a:bodyPr wrap="square" anchor="t" lIns="22860" rIns="22860" tIns="22860" bIns="22860">
            <a:spAutoFit/>
          </a:bodyPr>
          <a:lstStyle/>
          <a:p>
            <a:pPr algn="l">
              <a:lnSpc>
                <a:spcPct val="110000"/>
              </a:lnSpc>
              <a:spcAft>
                <a:spcPts val="0"/>
              </a:spcAft>
            </a:pPr>
            <a:r>
              <a:rPr sz="1900" b="0">
                <a:solidFill>
                  <a:srgbClr val="23364F"/>
                </a:solidFill>
                <a:latin typeface="Segoe UI"/>
              </a:rPr>
              <a:t>Tổng hợp giả lập</a:t>
            </a:r>
          </a:p>
        </p:txBody>
      </p:sp>
      <p:sp>
        <p:nvSpPr>
          <p:cNvPr id="23" name="TextBox 22"/>
          <p:cNvSpPr txBox="1"/>
          <p:nvPr/>
        </p:nvSpPr>
        <p:spPr>
          <a:xfrm>
            <a:off x="9738360" y="4480560"/>
            <a:ext cx="1426464" cy="374904"/>
          </a:xfrm>
          <a:prstGeom prst="rect">
            <a:avLst/>
          </a:prstGeom>
          <a:noFill/>
        </p:spPr>
        <p:txBody>
          <a:bodyPr wrap="square" anchor="t" lIns="22860" rIns="22860" tIns="22860" bIns="22860">
            <a:spAutoFit/>
          </a:bodyPr>
          <a:lstStyle/>
          <a:p>
            <a:pPr algn="r">
              <a:lnSpc>
                <a:spcPct val="110000"/>
              </a:lnSpc>
              <a:spcAft>
                <a:spcPts val="0"/>
              </a:spcAft>
            </a:pPr>
            <a:r>
              <a:rPr sz="2300" b="1">
                <a:solidFill>
                  <a:srgbClr val="245BBA"/>
                </a:solidFill>
                <a:latin typeface="Segoe UI"/>
              </a:rPr>
              <a:t>4 / 4</a:t>
            </a:r>
          </a:p>
        </p:txBody>
      </p:sp>
      <p:cxnSp>
        <p:nvCxnSpPr>
          <p:cNvPr id="24" name="Connector 23"/>
          <p:cNvCxnSpPr/>
          <p:nvPr/>
        </p:nvCxnSpPr>
        <p:spPr>
          <a:xfrm>
            <a:off x="4352544" y="4992624"/>
            <a:ext cx="6867144"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343400" y="5458968"/>
            <a:ext cx="6812280" cy="512064"/>
          </a:xfrm>
          <a:prstGeom prst="rect">
            <a:avLst/>
          </a:prstGeom>
          <a:noFill/>
        </p:spPr>
        <p:txBody>
          <a:bodyPr wrap="square" anchor="t" lIns="22860" rIns="22860" tIns="22860" bIns="22860">
            <a:spAutoFit/>
          </a:bodyPr>
          <a:lstStyle/>
          <a:p>
            <a:pPr algn="l">
              <a:lnSpc>
                <a:spcPct val="110000"/>
              </a:lnSpc>
              <a:spcAft>
                <a:spcPts val="0"/>
              </a:spcAft>
            </a:pPr>
            <a:r>
              <a:rPr sz="1500" b="1">
                <a:solidFill>
                  <a:srgbClr val="A76B27"/>
                </a:solidFill>
                <a:latin typeface="Segoe UI"/>
              </a:rPr>
              <a:t>Bộ thử nội bộ đã có đáp án; chưa phải cam kết chất lượng trên dữ liệu thật.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PHẠM VI HIỆN TẠI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Bản thử đã chạy; điều kiện dùng thật còn phải hoàn thiện</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12</a:t>
            </a:r>
          </a:p>
        </p:txBody>
      </p:sp>
      <p:sp>
        <p:nvSpPr>
          <p:cNvPr id="9" name="Rounded Rectangle 8"/>
          <p:cNvSpPr/>
          <p:nvPr/>
        </p:nvSpPr>
        <p:spPr>
          <a:xfrm>
            <a:off x="685800" y="2258568"/>
            <a:ext cx="5266944" cy="3602736"/>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6217920" y="2258568"/>
            <a:ext cx="5266944" cy="3602736"/>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932688" y="2514600"/>
            <a:ext cx="2404872" cy="310896"/>
          </a:xfrm>
          <a:prstGeom prst="roundRect">
            <a:avLst>
              <a:gd name="adj" fmla="val 20000"/>
            </a:avLst>
          </a:prstGeom>
          <a:solidFill>
            <a:srgbClr val="ECF5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14984" y="2537460"/>
            <a:ext cx="2240279" cy="228600"/>
          </a:xfrm>
          <a:prstGeom prst="rect">
            <a:avLst/>
          </a:prstGeom>
          <a:noFill/>
        </p:spPr>
        <p:txBody>
          <a:bodyPr wrap="square" anchor="t" lIns="22860" rIns="22860" tIns="22860" bIns="22860">
            <a:spAutoFit/>
          </a:bodyPr>
          <a:lstStyle/>
          <a:p>
            <a:pPr algn="l">
              <a:lnSpc>
                <a:spcPct val="110000"/>
              </a:lnSpc>
              <a:spcAft>
                <a:spcPts val="0"/>
              </a:spcAft>
            </a:pPr>
            <a:r>
              <a:rPr sz="1200" b="1">
                <a:solidFill>
                  <a:srgbClr val="40836F"/>
                </a:solidFill>
                <a:latin typeface="Segoe UI"/>
              </a:rPr>
              <a:t>ĐÃ CÓ TRONG CODE</a:t>
            </a:r>
          </a:p>
        </p:txBody>
      </p:sp>
      <p:sp>
        <p:nvSpPr>
          <p:cNvPr id="13" name="Rounded Rectangle 12"/>
          <p:cNvSpPr/>
          <p:nvPr/>
        </p:nvSpPr>
        <p:spPr>
          <a:xfrm>
            <a:off x="6464808" y="2514600"/>
            <a:ext cx="3520440" cy="310896"/>
          </a:xfrm>
          <a:prstGeom prst="roundRect">
            <a:avLst>
              <a:gd name="adj" fmla="val 20000"/>
            </a:avLst>
          </a:prstGeom>
          <a:solidFill>
            <a:srgbClr val="FBF3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547104" y="2537460"/>
            <a:ext cx="3355848" cy="228600"/>
          </a:xfrm>
          <a:prstGeom prst="rect">
            <a:avLst/>
          </a:prstGeom>
          <a:noFill/>
        </p:spPr>
        <p:txBody>
          <a:bodyPr wrap="square" anchor="t" lIns="22860" rIns="22860" tIns="22860" bIns="22860">
            <a:spAutoFit/>
          </a:bodyPr>
          <a:lstStyle/>
          <a:p>
            <a:pPr algn="l">
              <a:lnSpc>
                <a:spcPct val="110000"/>
              </a:lnSpc>
              <a:spcAft>
                <a:spcPts val="0"/>
              </a:spcAft>
            </a:pPr>
            <a:r>
              <a:rPr sz="1200" b="1">
                <a:solidFill>
                  <a:srgbClr val="A76B27"/>
                </a:solidFill>
                <a:latin typeface="Segoe UI"/>
              </a:rPr>
              <a:t>TRƯỚC KHI THỬ DỮ LIỆU THẬT</a:t>
            </a:r>
          </a:p>
        </p:txBody>
      </p:sp>
      <p:sp>
        <p:nvSpPr>
          <p:cNvPr id="15" name="TextBox 14"/>
          <p:cNvSpPr txBox="1"/>
          <p:nvPr/>
        </p:nvSpPr>
        <p:spPr>
          <a:xfrm>
            <a:off x="950976" y="3163824"/>
            <a:ext cx="4690872" cy="2167128"/>
          </a:xfrm>
          <a:prstGeom prst="rect">
            <a:avLst/>
          </a:prstGeom>
          <a:noFill/>
        </p:spPr>
        <p:txBody>
          <a:bodyPr wrap="square" anchor="t" lIns="22860" rIns="22860" tIns="22860" bIns="22860">
            <a:spAutoFit/>
          </a:bodyPr>
          <a:lstStyle/>
          <a:p>
            <a:pPr algn="l">
              <a:lnSpc>
                <a:spcPct val="110000"/>
              </a:lnSpc>
              <a:spcAft>
                <a:spcPts val="500"/>
              </a:spcAft>
            </a:pPr>
            <a:r>
              <a:rPr sz="2000" b="0">
                <a:solidFill>
                  <a:srgbClr val="23364F"/>
                </a:solidFill>
                <a:latin typeface="Segoe UI"/>
              </a:rPr>
              <a:t>Ba trợ lý và cơ chế giao việc</a:t>
            </a:r>
          </a:p>
          <a:p>
            <a:pPr algn="l">
              <a:lnSpc>
                <a:spcPct val="110000"/>
              </a:lnSpc>
              <a:spcAft>
                <a:spcPts val="500"/>
              </a:spcAft>
            </a:pPr>
            <a:r>
              <a:rPr sz="2000" b="0">
                <a:solidFill>
                  <a:srgbClr val="23364F"/>
                </a:solidFill>
                <a:latin typeface="Segoe UI"/>
              </a:rPr>
              <a:t>Tra nguồn, truy vấn, bảng kết quả</a:t>
            </a:r>
          </a:p>
          <a:p>
            <a:pPr algn="l">
              <a:lnSpc>
                <a:spcPct val="110000"/>
              </a:lnSpc>
              <a:spcAft>
                <a:spcPts val="500"/>
              </a:spcAft>
            </a:pPr>
            <a:r>
              <a:rPr sz="2000" b="0">
                <a:solidFill>
                  <a:srgbClr val="23364F"/>
                </a:solidFill>
                <a:latin typeface="Segoe UI"/>
              </a:rPr>
              <a:t>Nhật ký và chi phí lượt chạy</a:t>
            </a:r>
          </a:p>
          <a:p>
            <a:pPr algn="l">
              <a:lnSpc>
                <a:spcPct val="110000"/>
              </a:lnSpc>
              <a:spcAft>
                <a:spcPts val="500"/>
              </a:spcAft>
            </a:pPr>
            <a:r>
              <a:rPr sz="2000" b="0">
                <a:solidFill>
                  <a:srgbClr val="23364F"/>
                </a:solidFill>
                <a:latin typeface="Segoe UI"/>
              </a:rPr>
              <a:t>Mật khẩu cho trang cài đặt</a:t>
            </a:r>
          </a:p>
        </p:txBody>
      </p:sp>
      <p:sp>
        <p:nvSpPr>
          <p:cNvPr id="16" name="TextBox 15"/>
          <p:cNvSpPr txBox="1"/>
          <p:nvPr/>
        </p:nvSpPr>
        <p:spPr>
          <a:xfrm>
            <a:off x="6483096" y="3163824"/>
            <a:ext cx="4690872" cy="2167128"/>
          </a:xfrm>
          <a:prstGeom prst="rect">
            <a:avLst/>
          </a:prstGeom>
          <a:noFill/>
        </p:spPr>
        <p:txBody>
          <a:bodyPr wrap="square" anchor="t" lIns="22860" rIns="22860" tIns="22860" bIns="22860">
            <a:spAutoFit/>
          </a:bodyPr>
          <a:lstStyle/>
          <a:p>
            <a:pPr algn="l">
              <a:lnSpc>
                <a:spcPct val="110000"/>
              </a:lnSpc>
              <a:spcAft>
                <a:spcPts val="500"/>
              </a:spcAft>
            </a:pPr>
            <a:r>
              <a:rPr sz="2000" b="0">
                <a:solidFill>
                  <a:srgbClr val="23364F"/>
                </a:solidFill>
                <a:latin typeface="Segoe UI"/>
              </a:rPr>
              <a:t>Đăng nhập, phân quyền nghiệp vụ</a:t>
            </a:r>
          </a:p>
          <a:p>
            <a:pPr algn="l">
              <a:lnSpc>
                <a:spcPct val="110000"/>
              </a:lnSpc>
              <a:spcAft>
                <a:spcPts val="500"/>
              </a:spcAft>
            </a:pPr>
            <a:r>
              <a:rPr sz="2000" b="0">
                <a:solidFill>
                  <a:srgbClr val="23364F"/>
                </a:solidFill>
                <a:latin typeface="Segoe UI"/>
              </a:rPr>
              <a:t>Dữ liệu được đơn vị duyệt</a:t>
            </a:r>
          </a:p>
          <a:p>
            <a:pPr algn="l">
              <a:lnSpc>
                <a:spcPct val="110000"/>
              </a:lnSpc>
              <a:spcAft>
                <a:spcPts val="500"/>
              </a:spcAft>
            </a:pPr>
            <a:r>
              <a:rPr sz="2000" b="0">
                <a:solidFill>
                  <a:srgbClr val="23364F"/>
                </a:solidFill>
                <a:latin typeface="Segoe UI"/>
              </a:rPr>
              <a:t>Phục hồi, hủy và vận hành bền</a:t>
            </a:r>
          </a:p>
          <a:p>
            <a:pPr algn="l">
              <a:lnSpc>
                <a:spcPct val="110000"/>
              </a:lnSpc>
              <a:spcAft>
                <a:spcPts val="500"/>
              </a:spcAft>
            </a:pPr>
            <a:r>
              <a:rPr sz="2000" b="0">
                <a:solidFill>
                  <a:srgbClr val="23364F"/>
                </a:solidFill>
                <a:latin typeface="Segoe UI"/>
              </a:rPr>
              <a:t>Nghiệm thu bằng câu hỏi mới</a:t>
            </a:r>
          </a:p>
        </p:txBody>
      </p:sp>
      <p:sp>
        <p:nvSpPr>
          <p:cNvPr id="17" name="TextBox 16"/>
          <p:cNvSpPr txBox="1"/>
          <p:nvPr/>
        </p:nvSpPr>
        <p:spPr>
          <a:xfrm>
            <a:off x="950976" y="5486400"/>
            <a:ext cx="10012680" cy="246888"/>
          </a:xfrm>
          <a:prstGeom prst="rect">
            <a:avLst/>
          </a:prstGeom>
          <a:noFill/>
        </p:spPr>
        <p:txBody>
          <a:bodyPr wrap="square" anchor="t" lIns="22860" rIns="22860" tIns="22860" bIns="22860">
            <a:spAutoFit/>
          </a:bodyPr>
          <a:lstStyle/>
          <a:p>
            <a:pPr algn="l">
              <a:lnSpc>
                <a:spcPct val="110000"/>
              </a:lnSpc>
              <a:spcAft>
                <a:spcPts val="0"/>
              </a:spcAft>
            </a:pPr>
            <a:r>
              <a:rPr sz="1400" b="1">
                <a:solidFill>
                  <a:srgbClr val="A76B27"/>
                </a:solidFill>
                <a:latin typeface="Segoe UI"/>
              </a:rPr>
              <a:t>Mật khẩu cài đặt ≠ phân quyền dữ liệu theo phòng ban.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ƯỚC TÍNH TRONG HỒ SƠ CHẠY</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Chi phí phụ thuộc độ phức tạp của yêu cầu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13</a:t>
            </a:r>
          </a:p>
        </p:txBody>
      </p:sp>
      <p:sp>
        <p:nvSpPr>
          <p:cNvPr id="9" name="Rounded Rectangle 8"/>
          <p:cNvSpPr/>
          <p:nvPr/>
        </p:nvSpPr>
        <p:spPr>
          <a:xfrm>
            <a:off x="685800" y="2286000"/>
            <a:ext cx="5266944" cy="3209544"/>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50976" y="2569464"/>
            <a:ext cx="4727448" cy="283464"/>
          </a:xfrm>
          <a:prstGeom prst="rect">
            <a:avLst/>
          </a:prstGeom>
          <a:noFill/>
        </p:spPr>
        <p:txBody>
          <a:bodyPr wrap="square" anchor="t" lIns="22860" rIns="22860" tIns="22860" bIns="22860">
            <a:spAutoFit/>
          </a:bodyPr>
          <a:lstStyle/>
          <a:p>
            <a:pPr algn="l">
              <a:lnSpc>
                <a:spcPct val="110000"/>
              </a:lnSpc>
              <a:spcAft>
                <a:spcPts val="0"/>
              </a:spcAft>
            </a:pPr>
            <a:r>
              <a:rPr sz="1200" b="1">
                <a:solidFill>
                  <a:srgbClr val="40836F"/>
                </a:solidFill>
                <a:latin typeface="Segoe UI"/>
              </a:rPr>
              <a:t>14 CÂU DỮ LIỆU TUYỂN SINH</a:t>
            </a:r>
          </a:p>
        </p:txBody>
      </p:sp>
      <p:sp>
        <p:nvSpPr>
          <p:cNvPr id="11" name="TextBox 10"/>
          <p:cNvSpPr txBox="1"/>
          <p:nvPr/>
        </p:nvSpPr>
        <p:spPr>
          <a:xfrm>
            <a:off x="932688" y="3200400"/>
            <a:ext cx="4754880" cy="722376"/>
          </a:xfrm>
          <a:prstGeom prst="rect">
            <a:avLst/>
          </a:prstGeom>
          <a:noFill/>
        </p:spPr>
        <p:txBody>
          <a:bodyPr wrap="square" anchor="t" lIns="22860" rIns="22860" tIns="22860" bIns="22860">
            <a:spAutoFit/>
          </a:bodyPr>
          <a:lstStyle/>
          <a:p>
            <a:pPr algn="l">
              <a:lnSpc>
                <a:spcPct val="110000"/>
              </a:lnSpc>
              <a:spcAft>
                <a:spcPts val="0"/>
              </a:spcAft>
            </a:pPr>
            <a:r>
              <a:rPr sz="3700" b="1">
                <a:solidFill>
                  <a:srgbClr val="40836F"/>
                </a:solidFill>
                <a:latin typeface="Segoe UI"/>
              </a:rPr>
              <a:t>~700 đ / câu</a:t>
            </a:r>
          </a:p>
        </p:txBody>
      </p:sp>
      <p:sp>
        <p:nvSpPr>
          <p:cNvPr id="12" name="TextBox 11"/>
          <p:cNvSpPr txBox="1"/>
          <p:nvPr/>
        </p:nvSpPr>
        <p:spPr>
          <a:xfrm>
            <a:off x="950976" y="4105656"/>
            <a:ext cx="4727448" cy="448056"/>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23364F"/>
                </a:solidFill>
                <a:latin typeface="Segoe UI"/>
              </a:rPr>
              <a:t>Trung vị ~43 giây</a:t>
            </a:r>
          </a:p>
        </p:txBody>
      </p:sp>
      <p:sp>
        <p:nvSpPr>
          <p:cNvPr id="13" name="TextBox 12"/>
          <p:cNvSpPr txBox="1"/>
          <p:nvPr/>
        </p:nvSpPr>
        <p:spPr>
          <a:xfrm>
            <a:off x="950976" y="4718304"/>
            <a:ext cx="4727448" cy="603504"/>
          </a:xfrm>
          <a:prstGeom prst="rect">
            <a:avLst/>
          </a:prstGeom>
          <a:noFill/>
        </p:spPr>
        <p:txBody>
          <a:bodyPr wrap="square" anchor="t" lIns="22860" rIns="22860" tIns="22860" bIns="22860">
            <a:spAutoFit/>
          </a:bodyPr>
          <a:lstStyle/>
          <a:p>
            <a:pPr algn="l">
              <a:lnSpc>
                <a:spcPct val="110000"/>
              </a:lnSpc>
              <a:spcAft>
                <a:spcPts val="500"/>
              </a:spcAft>
            </a:pPr>
            <a:r>
              <a:rPr sz="1500" b="0">
                <a:solidFill>
                  <a:srgbClr val="687A91"/>
                </a:solidFill>
                <a:latin typeface="Segoe UI"/>
              </a:rPr>
              <a:t>Trung bình ước tính $0,026</a:t>
            </a:r>
          </a:p>
          <a:p>
            <a:pPr algn="l">
              <a:lnSpc>
                <a:spcPct val="110000"/>
              </a:lnSpc>
              <a:spcAft>
                <a:spcPts val="500"/>
              </a:spcAft>
            </a:pPr>
            <a:r>
              <a:rPr sz="1500" b="0">
                <a:solidFill>
                  <a:srgbClr val="687A91"/>
                </a:solidFill>
                <a:latin typeface="Segoe UI"/>
              </a:rPr>
              <a:t>Bộ thử nội bộ trên dữ liệu giả lập</a:t>
            </a:r>
          </a:p>
        </p:txBody>
      </p:sp>
      <p:sp>
        <p:nvSpPr>
          <p:cNvPr id="14" name="Rounded Rectangle 13"/>
          <p:cNvSpPr/>
          <p:nvPr/>
        </p:nvSpPr>
        <p:spPr>
          <a:xfrm>
            <a:off x="6217920" y="2286000"/>
            <a:ext cx="5266944" cy="3209544"/>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83096" y="2569464"/>
            <a:ext cx="4727448" cy="283464"/>
          </a:xfrm>
          <a:prstGeom prst="rect">
            <a:avLst/>
          </a:prstGeom>
          <a:noFill/>
        </p:spPr>
        <p:txBody>
          <a:bodyPr wrap="square" anchor="t" lIns="22860" rIns="22860" tIns="22860" bIns="22860">
            <a:spAutoFit/>
          </a:bodyPr>
          <a:lstStyle/>
          <a:p>
            <a:pPr algn="l">
              <a:lnSpc>
                <a:spcPct val="110000"/>
              </a:lnSpc>
              <a:spcAft>
                <a:spcPts val="0"/>
              </a:spcAft>
            </a:pPr>
            <a:r>
              <a:rPr sz="1200" b="1">
                <a:solidFill>
                  <a:srgbClr val="245BBA"/>
                </a:solidFill>
                <a:latin typeface="Segoe UI"/>
              </a:rPr>
              <a:t>1 CÂU TỔNG HỢP LIÊN LĨNH VỰC</a:t>
            </a:r>
          </a:p>
        </p:txBody>
      </p:sp>
      <p:sp>
        <p:nvSpPr>
          <p:cNvPr id="16" name="TextBox 15"/>
          <p:cNvSpPr txBox="1"/>
          <p:nvPr/>
        </p:nvSpPr>
        <p:spPr>
          <a:xfrm>
            <a:off x="6464808" y="3200400"/>
            <a:ext cx="4754880" cy="722376"/>
          </a:xfrm>
          <a:prstGeom prst="rect">
            <a:avLst/>
          </a:prstGeom>
          <a:noFill/>
        </p:spPr>
        <p:txBody>
          <a:bodyPr wrap="square" anchor="t" lIns="22860" rIns="22860" tIns="22860" bIns="22860">
            <a:spAutoFit/>
          </a:bodyPr>
          <a:lstStyle/>
          <a:p>
            <a:pPr algn="l">
              <a:lnSpc>
                <a:spcPct val="110000"/>
              </a:lnSpc>
              <a:spcAft>
                <a:spcPts val="0"/>
              </a:spcAft>
            </a:pPr>
            <a:r>
              <a:rPr sz="3700" b="1">
                <a:solidFill>
                  <a:srgbClr val="245BBA"/>
                </a:solidFill>
                <a:latin typeface="Segoe UI"/>
              </a:rPr>
              <a:t>~6.900 đ</a:t>
            </a:r>
          </a:p>
        </p:txBody>
      </p:sp>
      <p:sp>
        <p:nvSpPr>
          <p:cNvPr id="17" name="TextBox 16"/>
          <p:cNvSpPr txBox="1"/>
          <p:nvPr/>
        </p:nvSpPr>
        <p:spPr>
          <a:xfrm>
            <a:off x="6483096" y="4105656"/>
            <a:ext cx="4727448" cy="448056"/>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23364F"/>
                </a:solidFill>
                <a:latin typeface="Segoe UI"/>
              </a:rPr>
              <a:t>4 phút 47 giây</a:t>
            </a:r>
          </a:p>
        </p:txBody>
      </p:sp>
      <p:sp>
        <p:nvSpPr>
          <p:cNvPr id="18" name="TextBox 17"/>
          <p:cNvSpPr txBox="1"/>
          <p:nvPr/>
        </p:nvSpPr>
        <p:spPr>
          <a:xfrm>
            <a:off x="6483096" y="4718304"/>
            <a:ext cx="4727448" cy="603504"/>
          </a:xfrm>
          <a:prstGeom prst="rect">
            <a:avLst/>
          </a:prstGeom>
          <a:noFill/>
        </p:spPr>
        <p:txBody>
          <a:bodyPr wrap="square" anchor="t" lIns="22860" rIns="22860" tIns="22860" bIns="22860">
            <a:spAutoFit/>
          </a:bodyPr>
          <a:lstStyle/>
          <a:p>
            <a:pPr algn="l">
              <a:lnSpc>
                <a:spcPct val="110000"/>
              </a:lnSpc>
              <a:spcAft>
                <a:spcPts val="500"/>
              </a:spcAft>
            </a:pPr>
            <a:r>
              <a:rPr sz="1500" b="0">
                <a:solidFill>
                  <a:srgbClr val="687A91"/>
                </a:solidFill>
                <a:latin typeface="Segoe UI"/>
              </a:rPr>
              <a:t>Ước tính $0,265 · 18 lượt gọi AI</a:t>
            </a:r>
          </a:p>
          <a:p>
            <a:pPr algn="l">
              <a:lnSpc>
                <a:spcPct val="110000"/>
              </a:lnSpc>
              <a:spcAft>
                <a:spcPts val="500"/>
              </a:spcAft>
            </a:pPr>
            <a:r>
              <a:rPr sz="1500" b="0">
                <a:solidFill>
                  <a:srgbClr val="687A91"/>
                </a:solidFill>
                <a:latin typeface="Segoe UI"/>
              </a:rPr>
              <a:t>Riêng bản ghi minh chứng đã trình bày</a:t>
            </a:r>
          </a:p>
        </p:txBody>
      </p:sp>
      <p:sp>
        <p:nvSpPr>
          <p:cNvPr id="19" name="TextBox 18"/>
          <p:cNvSpPr txBox="1"/>
          <p:nvPr/>
        </p:nvSpPr>
        <p:spPr>
          <a:xfrm>
            <a:off x="740664" y="5751576"/>
            <a:ext cx="10771632" cy="411480"/>
          </a:xfrm>
          <a:prstGeom prst="rect">
            <a:avLst/>
          </a:prstGeom>
          <a:noFill/>
        </p:spPr>
        <p:txBody>
          <a:bodyPr wrap="square" anchor="t" lIns="22860" rIns="22860" tIns="22860" bIns="22860">
            <a:spAutoFit/>
          </a:bodyPr>
          <a:lstStyle/>
          <a:p>
            <a:pPr algn="l">
              <a:lnSpc>
                <a:spcPct val="110000"/>
              </a:lnSpc>
              <a:spcAft>
                <a:spcPts val="0"/>
              </a:spcAft>
            </a:pPr>
            <a:r>
              <a:rPr sz="1200" b="0">
                <a:solidFill>
                  <a:srgbClr val="687A91"/>
                </a:solidFill>
                <a:latin typeface="Segoe UI"/>
              </a:rPr>
              <a:t>Quy đổi minh họa: 26.180 đ/USD theo cấu hình demo. Số liệu là ước tính đã ghi ngày 29/9, không phải báo giá hiện tại.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LỘ TRÌNH ĐỀ XUẤT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Bước tiếp theo: thử nhỏ, đo thật, rồi mới mở rộng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14</a:t>
            </a:r>
          </a:p>
        </p:txBody>
      </p:sp>
      <p:sp>
        <p:nvSpPr>
          <p:cNvPr id="9" name="Rounded Rectangle 8"/>
          <p:cNvSpPr/>
          <p:nvPr/>
        </p:nvSpPr>
        <p:spPr>
          <a:xfrm>
            <a:off x="685800" y="2350008"/>
            <a:ext cx="3383280" cy="361188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05256" y="2578608"/>
            <a:ext cx="2889504" cy="731520"/>
          </a:xfrm>
          <a:prstGeom prst="rect">
            <a:avLst/>
          </a:prstGeom>
          <a:noFill/>
        </p:spPr>
        <p:txBody>
          <a:bodyPr wrap="square" anchor="t" lIns="22860" rIns="22860" tIns="22860" bIns="22860">
            <a:spAutoFit/>
          </a:bodyPr>
          <a:lstStyle/>
          <a:p>
            <a:pPr algn="l">
              <a:lnSpc>
                <a:spcPct val="110000"/>
              </a:lnSpc>
              <a:spcAft>
                <a:spcPts val="0"/>
              </a:spcAft>
            </a:pPr>
            <a:r>
              <a:rPr sz="4000" b="1">
                <a:solidFill>
                  <a:srgbClr val="9BB2D0"/>
                </a:solidFill>
                <a:latin typeface="Segoe UI"/>
              </a:rPr>
              <a:t>01</a:t>
            </a:r>
          </a:p>
        </p:txBody>
      </p:sp>
      <p:sp>
        <p:nvSpPr>
          <p:cNvPr id="11" name="TextBox 10"/>
          <p:cNvSpPr txBox="1"/>
          <p:nvPr/>
        </p:nvSpPr>
        <p:spPr>
          <a:xfrm>
            <a:off x="905256" y="3474720"/>
            <a:ext cx="2889504" cy="475488"/>
          </a:xfrm>
          <a:prstGeom prst="rect">
            <a:avLst/>
          </a:prstGeom>
          <a:noFill/>
        </p:spPr>
        <p:txBody>
          <a:bodyPr wrap="square" anchor="t" lIns="22860" rIns="22860" tIns="22860" bIns="22860">
            <a:spAutoFit/>
          </a:bodyPr>
          <a:lstStyle/>
          <a:p>
            <a:pPr algn="l">
              <a:lnSpc>
                <a:spcPct val="110000"/>
              </a:lnSpc>
              <a:spcAft>
                <a:spcPts val="0"/>
              </a:spcAft>
            </a:pPr>
            <a:r>
              <a:rPr sz="2300" b="1">
                <a:solidFill>
                  <a:srgbClr val="23364F"/>
                </a:solidFill>
                <a:latin typeface="Segoe UI"/>
              </a:rPr>
              <a:t>Chốt công việc</a:t>
            </a:r>
          </a:p>
        </p:txBody>
      </p:sp>
      <p:sp>
        <p:nvSpPr>
          <p:cNvPr id="12" name="TextBox 11"/>
          <p:cNvSpPr txBox="1"/>
          <p:nvPr/>
        </p:nvSpPr>
        <p:spPr>
          <a:xfrm>
            <a:off x="905256" y="4151376"/>
            <a:ext cx="2889504" cy="1143000"/>
          </a:xfrm>
          <a:prstGeom prst="rect">
            <a:avLst/>
          </a:prstGeom>
          <a:noFill/>
        </p:spPr>
        <p:txBody>
          <a:bodyPr wrap="square" anchor="t" lIns="22860" rIns="22860" tIns="22860" bIns="22860">
            <a:spAutoFit/>
          </a:bodyPr>
          <a:lstStyle/>
          <a:p>
            <a:pPr algn="l">
              <a:lnSpc>
                <a:spcPct val="110000"/>
              </a:lnSpc>
              <a:spcAft>
                <a:spcPts val="500"/>
              </a:spcAft>
            </a:pPr>
            <a:r>
              <a:rPr sz="1700" b="0">
                <a:solidFill>
                  <a:srgbClr val="687A91"/>
                </a:solidFill>
                <a:latin typeface="Segoe UI"/>
              </a:rPr>
              <a:t>Chọn tình huống ưu tiên</a:t>
            </a:r>
          </a:p>
          <a:p>
            <a:pPr algn="l">
              <a:lnSpc>
                <a:spcPct val="110000"/>
              </a:lnSpc>
              <a:spcAft>
                <a:spcPts val="500"/>
              </a:spcAft>
            </a:pPr>
            <a:r>
              <a:rPr sz="1700" b="0">
                <a:solidFill>
                  <a:srgbClr val="687A91"/>
                </a:solidFill>
                <a:latin typeface="Segoe UI"/>
              </a:rPr>
              <a:t>Cử người phụ trách nguồn</a:t>
            </a:r>
          </a:p>
          <a:p>
            <a:pPr algn="l">
              <a:lnSpc>
                <a:spcPct val="110000"/>
              </a:lnSpc>
              <a:spcAft>
                <a:spcPts val="500"/>
              </a:spcAft>
            </a:pPr>
            <a:r>
              <a:rPr sz="1700" b="0">
                <a:solidFill>
                  <a:srgbClr val="687A91"/>
                </a:solidFill>
                <a:latin typeface="Segoe UI"/>
              </a:rPr>
              <a:t>Xác định quyền sử dụng</a:t>
            </a:r>
          </a:p>
        </p:txBody>
      </p:sp>
      <p:sp>
        <p:nvSpPr>
          <p:cNvPr id="13" name="Rounded Rectangle 12"/>
          <p:cNvSpPr/>
          <p:nvPr/>
        </p:nvSpPr>
        <p:spPr>
          <a:xfrm>
            <a:off x="886968" y="5422392"/>
            <a:ext cx="2980944"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9264" y="5445252"/>
            <a:ext cx="2816351" cy="228600"/>
          </a:xfrm>
          <a:prstGeom prst="rect">
            <a:avLst/>
          </a:prstGeom>
          <a:noFill/>
        </p:spPr>
        <p:txBody>
          <a:bodyPr wrap="square" anchor="t" lIns="22860" rIns="22860" tIns="22860" bIns="22860">
            <a:spAutoFit/>
          </a:bodyPr>
          <a:lstStyle/>
          <a:p>
            <a:pPr algn="l">
              <a:lnSpc>
                <a:spcPct val="110000"/>
              </a:lnSpc>
              <a:spcAft>
                <a:spcPts val="0"/>
              </a:spcAft>
            </a:pPr>
            <a:r>
              <a:rPr sz="1000" b="1">
                <a:solidFill>
                  <a:srgbClr val="245BBA"/>
                </a:solidFill>
                <a:latin typeface="Segoe UI"/>
              </a:rPr>
              <a:t>Đầu vào có người xác nhận</a:t>
            </a:r>
          </a:p>
        </p:txBody>
      </p:sp>
      <p:sp>
        <p:nvSpPr>
          <p:cNvPr id="15" name="Rounded Rectangle 14"/>
          <p:cNvSpPr/>
          <p:nvPr/>
        </p:nvSpPr>
        <p:spPr>
          <a:xfrm>
            <a:off x="4379976" y="2350008"/>
            <a:ext cx="3383280" cy="361188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599432" y="2578608"/>
            <a:ext cx="2889504" cy="731520"/>
          </a:xfrm>
          <a:prstGeom prst="rect">
            <a:avLst/>
          </a:prstGeom>
          <a:noFill/>
        </p:spPr>
        <p:txBody>
          <a:bodyPr wrap="square" anchor="t" lIns="22860" rIns="22860" tIns="22860" bIns="22860">
            <a:spAutoFit/>
          </a:bodyPr>
          <a:lstStyle/>
          <a:p>
            <a:pPr algn="l">
              <a:lnSpc>
                <a:spcPct val="110000"/>
              </a:lnSpc>
              <a:spcAft>
                <a:spcPts val="0"/>
              </a:spcAft>
            </a:pPr>
            <a:r>
              <a:rPr sz="4000" b="1">
                <a:solidFill>
                  <a:srgbClr val="9BB2D0"/>
                </a:solidFill>
                <a:latin typeface="Segoe UI"/>
              </a:rPr>
              <a:t>02</a:t>
            </a:r>
          </a:p>
        </p:txBody>
      </p:sp>
      <p:sp>
        <p:nvSpPr>
          <p:cNvPr id="17" name="TextBox 16"/>
          <p:cNvSpPr txBox="1"/>
          <p:nvPr/>
        </p:nvSpPr>
        <p:spPr>
          <a:xfrm>
            <a:off x="4599432" y="3474720"/>
            <a:ext cx="2889504" cy="475488"/>
          </a:xfrm>
          <a:prstGeom prst="rect">
            <a:avLst/>
          </a:prstGeom>
          <a:noFill/>
        </p:spPr>
        <p:txBody>
          <a:bodyPr wrap="square" anchor="t" lIns="22860" rIns="22860" tIns="22860" bIns="22860">
            <a:spAutoFit/>
          </a:bodyPr>
          <a:lstStyle/>
          <a:p>
            <a:pPr algn="l">
              <a:lnSpc>
                <a:spcPct val="110000"/>
              </a:lnSpc>
              <a:spcAft>
                <a:spcPts val="0"/>
              </a:spcAft>
            </a:pPr>
            <a:r>
              <a:rPr sz="2300" b="1">
                <a:solidFill>
                  <a:srgbClr val="23364F"/>
                </a:solidFill>
                <a:latin typeface="Segoe UI"/>
              </a:rPr>
              <a:t>Hoàn thiện nền tảng</a:t>
            </a:r>
          </a:p>
        </p:txBody>
      </p:sp>
      <p:sp>
        <p:nvSpPr>
          <p:cNvPr id="18" name="TextBox 17"/>
          <p:cNvSpPr txBox="1"/>
          <p:nvPr/>
        </p:nvSpPr>
        <p:spPr>
          <a:xfrm>
            <a:off x="4599432" y="4151376"/>
            <a:ext cx="2889504" cy="1143000"/>
          </a:xfrm>
          <a:prstGeom prst="rect">
            <a:avLst/>
          </a:prstGeom>
          <a:noFill/>
        </p:spPr>
        <p:txBody>
          <a:bodyPr wrap="square" anchor="t" lIns="22860" rIns="22860" tIns="22860" bIns="22860">
            <a:spAutoFit/>
          </a:bodyPr>
          <a:lstStyle/>
          <a:p>
            <a:pPr algn="l">
              <a:lnSpc>
                <a:spcPct val="110000"/>
              </a:lnSpc>
              <a:spcAft>
                <a:spcPts val="500"/>
              </a:spcAft>
            </a:pPr>
            <a:r>
              <a:rPr sz="1700" b="0">
                <a:solidFill>
                  <a:srgbClr val="687A91"/>
                </a:solidFill>
                <a:latin typeface="Segoe UI"/>
              </a:rPr>
              <a:t>Đăng nhập và phân quyền</a:t>
            </a:r>
          </a:p>
          <a:p>
            <a:pPr algn="l">
              <a:lnSpc>
                <a:spcPct val="110000"/>
              </a:lnSpc>
              <a:spcAft>
                <a:spcPts val="500"/>
              </a:spcAft>
            </a:pPr>
            <a:r>
              <a:rPr sz="1700" b="0">
                <a:solidFill>
                  <a:srgbClr val="687A91"/>
                </a:solidFill>
                <a:latin typeface="Segoe UI"/>
              </a:rPr>
              <a:t>Bản sao dữ liệu chỉ đọc</a:t>
            </a:r>
          </a:p>
          <a:p>
            <a:pPr algn="l">
              <a:lnSpc>
                <a:spcPct val="110000"/>
              </a:lnSpc>
              <a:spcAft>
                <a:spcPts val="500"/>
              </a:spcAft>
            </a:pPr>
            <a:r>
              <a:rPr sz="1700" b="0">
                <a:solidFill>
                  <a:srgbClr val="687A91"/>
                </a:solidFill>
                <a:latin typeface="Segoe UI"/>
              </a:rPr>
              <a:t>Phục hồi và vận hành</a:t>
            </a:r>
          </a:p>
        </p:txBody>
      </p:sp>
      <p:sp>
        <p:nvSpPr>
          <p:cNvPr id="19" name="Rounded Rectangle 18"/>
          <p:cNvSpPr/>
          <p:nvPr/>
        </p:nvSpPr>
        <p:spPr>
          <a:xfrm>
            <a:off x="4581144" y="5422392"/>
            <a:ext cx="2980944"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663440" y="5445252"/>
            <a:ext cx="2816351" cy="228600"/>
          </a:xfrm>
          <a:prstGeom prst="rect">
            <a:avLst/>
          </a:prstGeom>
          <a:noFill/>
        </p:spPr>
        <p:txBody>
          <a:bodyPr wrap="square" anchor="t" lIns="22860" rIns="22860" tIns="22860" bIns="22860">
            <a:spAutoFit/>
          </a:bodyPr>
          <a:lstStyle/>
          <a:p>
            <a:pPr algn="l">
              <a:lnSpc>
                <a:spcPct val="110000"/>
              </a:lnSpc>
              <a:spcAft>
                <a:spcPts val="0"/>
              </a:spcAft>
            </a:pPr>
            <a:r>
              <a:rPr sz="1000" b="1">
                <a:solidFill>
                  <a:srgbClr val="245BBA"/>
                </a:solidFill>
                <a:latin typeface="Segoe UI"/>
              </a:rPr>
              <a:t>Qua kiểm tra quyền, lỗi</a:t>
            </a:r>
          </a:p>
        </p:txBody>
      </p:sp>
      <p:sp>
        <p:nvSpPr>
          <p:cNvPr id="21" name="Rounded Rectangle 20"/>
          <p:cNvSpPr/>
          <p:nvPr/>
        </p:nvSpPr>
        <p:spPr>
          <a:xfrm>
            <a:off x="8074152" y="2350008"/>
            <a:ext cx="3383280" cy="361188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93608" y="2578608"/>
            <a:ext cx="2889504" cy="731520"/>
          </a:xfrm>
          <a:prstGeom prst="rect">
            <a:avLst/>
          </a:prstGeom>
          <a:noFill/>
        </p:spPr>
        <p:txBody>
          <a:bodyPr wrap="square" anchor="t" lIns="22860" rIns="22860" tIns="22860" bIns="22860">
            <a:spAutoFit/>
          </a:bodyPr>
          <a:lstStyle/>
          <a:p>
            <a:pPr algn="l">
              <a:lnSpc>
                <a:spcPct val="110000"/>
              </a:lnSpc>
              <a:spcAft>
                <a:spcPts val="0"/>
              </a:spcAft>
            </a:pPr>
            <a:r>
              <a:rPr sz="4000" b="1">
                <a:solidFill>
                  <a:srgbClr val="9BB2D0"/>
                </a:solidFill>
                <a:latin typeface="Segoe UI"/>
              </a:rPr>
              <a:t>03</a:t>
            </a:r>
          </a:p>
        </p:txBody>
      </p:sp>
      <p:sp>
        <p:nvSpPr>
          <p:cNvPr id="23" name="TextBox 22"/>
          <p:cNvSpPr txBox="1"/>
          <p:nvPr/>
        </p:nvSpPr>
        <p:spPr>
          <a:xfrm>
            <a:off x="8293608" y="3474720"/>
            <a:ext cx="2889504" cy="475488"/>
          </a:xfrm>
          <a:prstGeom prst="rect">
            <a:avLst/>
          </a:prstGeom>
          <a:noFill/>
        </p:spPr>
        <p:txBody>
          <a:bodyPr wrap="square" anchor="t" lIns="22860" rIns="22860" tIns="22860" bIns="22860">
            <a:spAutoFit/>
          </a:bodyPr>
          <a:lstStyle/>
          <a:p>
            <a:pPr algn="l">
              <a:lnSpc>
                <a:spcPct val="110000"/>
              </a:lnSpc>
              <a:spcAft>
                <a:spcPts val="0"/>
              </a:spcAft>
            </a:pPr>
            <a:r>
              <a:rPr sz="2300" b="1">
                <a:solidFill>
                  <a:srgbClr val="23364F"/>
                </a:solidFill>
                <a:latin typeface="Segoe UI"/>
              </a:rPr>
              <a:t>Nghiệm thu thử</a:t>
            </a:r>
          </a:p>
        </p:txBody>
      </p:sp>
      <p:sp>
        <p:nvSpPr>
          <p:cNvPr id="24" name="TextBox 23"/>
          <p:cNvSpPr txBox="1"/>
          <p:nvPr/>
        </p:nvSpPr>
        <p:spPr>
          <a:xfrm>
            <a:off x="8293608" y="4151376"/>
            <a:ext cx="2889504" cy="1143000"/>
          </a:xfrm>
          <a:prstGeom prst="rect">
            <a:avLst/>
          </a:prstGeom>
          <a:noFill/>
        </p:spPr>
        <p:txBody>
          <a:bodyPr wrap="square" anchor="t" lIns="22860" rIns="22860" tIns="22860" bIns="22860">
            <a:spAutoFit/>
          </a:bodyPr>
          <a:lstStyle/>
          <a:p>
            <a:pPr algn="l">
              <a:lnSpc>
                <a:spcPct val="110000"/>
              </a:lnSpc>
              <a:spcAft>
                <a:spcPts val="500"/>
              </a:spcAft>
            </a:pPr>
            <a:r>
              <a:rPr sz="1700" b="0">
                <a:solidFill>
                  <a:srgbClr val="687A91"/>
                </a:solidFill>
                <a:latin typeface="Segoe UI"/>
              </a:rPr>
              <a:t>Câu hỏi mới, chấm độc lập</a:t>
            </a:r>
          </a:p>
          <a:p>
            <a:pPr algn="l">
              <a:lnSpc>
                <a:spcPct val="110000"/>
              </a:lnSpc>
              <a:spcAft>
                <a:spcPts val="500"/>
              </a:spcAft>
            </a:pPr>
            <a:r>
              <a:rPr sz="1700" b="0">
                <a:solidFill>
                  <a:srgbClr val="687A91"/>
                </a:solidFill>
                <a:latin typeface="Segoe UI"/>
              </a:rPr>
              <a:t>Đo chất lượng, thời gian, phí</a:t>
            </a:r>
          </a:p>
          <a:p>
            <a:pPr algn="l">
              <a:lnSpc>
                <a:spcPct val="110000"/>
              </a:lnSpc>
              <a:spcAft>
                <a:spcPts val="500"/>
              </a:spcAft>
            </a:pPr>
            <a:r>
              <a:rPr sz="1700" b="0">
                <a:solidFill>
                  <a:srgbClr val="687A91"/>
                </a:solidFill>
                <a:latin typeface="Segoe UI"/>
              </a:rPr>
              <a:t>Ghi nhận phản hồi thực tế</a:t>
            </a:r>
          </a:p>
        </p:txBody>
      </p:sp>
      <p:sp>
        <p:nvSpPr>
          <p:cNvPr id="25" name="Rounded Rectangle 24"/>
          <p:cNvSpPr/>
          <p:nvPr/>
        </p:nvSpPr>
        <p:spPr>
          <a:xfrm>
            <a:off x="8275320" y="5422392"/>
            <a:ext cx="2980944"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357616" y="5445252"/>
            <a:ext cx="2816351" cy="228600"/>
          </a:xfrm>
          <a:prstGeom prst="rect">
            <a:avLst/>
          </a:prstGeom>
          <a:noFill/>
        </p:spPr>
        <p:txBody>
          <a:bodyPr wrap="square" anchor="t" lIns="22860" rIns="22860" tIns="22860" bIns="22860">
            <a:spAutoFit/>
          </a:bodyPr>
          <a:lstStyle/>
          <a:p>
            <a:pPr algn="l">
              <a:lnSpc>
                <a:spcPct val="110000"/>
              </a:lnSpc>
              <a:spcAft>
                <a:spcPts val="0"/>
              </a:spcAft>
            </a:pPr>
            <a:r>
              <a:rPr sz="1000" b="1">
                <a:solidFill>
                  <a:srgbClr val="245BBA"/>
                </a:solidFill>
                <a:latin typeface="Segoe UI"/>
              </a:rPr>
              <a:t>Đạt tiêu chí mới mở rộng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98B5E7"/>
                </a:solidFill>
                <a:latin typeface="Segoe UI"/>
              </a:rPr>
              <a:t>ĐỀ NGHỊ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FFFFFF"/>
                </a:solidFill>
                <a:latin typeface="Segoe UI"/>
              </a:rPr>
              <a:t>Để bắt đầu, nhóm cần ba sự phối hợp</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AFBFDA"/>
                </a:solidFill>
                <a:latin typeface="Segoe UI"/>
              </a:rPr>
              <a:t>Credere · Bản thử nghiệm nghiệp vụ</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AFBFDA"/>
                </a:solidFill>
                <a:latin typeface="Segoe UI"/>
              </a:rPr>
              <a:t>15</a:t>
            </a:r>
          </a:p>
        </p:txBody>
      </p:sp>
      <p:sp>
        <p:nvSpPr>
          <p:cNvPr id="9" name="Oval 8"/>
          <p:cNvSpPr/>
          <p:nvPr/>
        </p:nvSpPr>
        <p:spPr>
          <a:xfrm>
            <a:off x="722376" y="2313432"/>
            <a:ext cx="521207" cy="521207"/>
          </a:xfrm>
          <a:prstGeom prst="ellipse">
            <a:avLst/>
          </a:prstGeom>
          <a:solidFill>
            <a:srgbClr val="3048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22376" y="2313432"/>
            <a:ext cx="521207" cy="521207"/>
          </a:xfrm>
          <a:prstGeom prst="rect">
            <a:avLst/>
          </a:prstGeom>
          <a:noFill/>
        </p:spPr>
        <p:txBody>
          <a:bodyPr wrap="square" anchor="ctr" lIns="22860" rIns="22860" tIns="22860" bIns="22860">
            <a:spAutoFit/>
          </a:bodyPr>
          <a:lstStyle/>
          <a:p>
            <a:pPr algn="ctr">
              <a:lnSpc>
                <a:spcPct val="110000"/>
              </a:lnSpc>
              <a:spcAft>
                <a:spcPts val="0"/>
              </a:spcAft>
            </a:pPr>
            <a:r>
              <a:rPr sz="1800" b="1">
                <a:solidFill>
                  <a:srgbClr val="D7E5F8"/>
                </a:solidFill>
                <a:latin typeface="Segoe UI"/>
              </a:rPr>
              <a:t>01</a:t>
            </a:r>
          </a:p>
        </p:txBody>
      </p:sp>
      <p:sp>
        <p:nvSpPr>
          <p:cNvPr id="11" name="TextBox 10"/>
          <p:cNvSpPr txBox="1"/>
          <p:nvPr/>
        </p:nvSpPr>
        <p:spPr>
          <a:xfrm>
            <a:off x="1508760" y="2286000"/>
            <a:ext cx="9564624" cy="484632"/>
          </a:xfrm>
          <a:prstGeom prst="rect">
            <a:avLst/>
          </a:prstGeom>
          <a:noFill/>
        </p:spPr>
        <p:txBody>
          <a:bodyPr wrap="square" anchor="t" lIns="22860" rIns="22860" tIns="22860" bIns="22860">
            <a:spAutoFit/>
          </a:bodyPr>
          <a:lstStyle/>
          <a:p>
            <a:pPr algn="l">
              <a:lnSpc>
                <a:spcPct val="110000"/>
              </a:lnSpc>
              <a:spcAft>
                <a:spcPts val="0"/>
              </a:spcAft>
            </a:pPr>
            <a:r>
              <a:rPr sz="2500" b="1">
                <a:solidFill>
                  <a:srgbClr val="FFFFFF"/>
                </a:solidFill>
                <a:latin typeface="Segoe UI"/>
              </a:rPr>
              <a:t>Hai đầu mối nghiệp vụ</a:t>
            </a:r>
          </a:p>
        </p:txBody>
      </p:sp>
      <p:sp>
        <p:nvSpPr>
          <p:cNvPr id="12" name="TextBox 11"/>
          <p:cNvSpPr txBox="1"/>
          <p:nvPr/>
        </p:nvSpPr>
        <p:spPr>
          <a:xfrm>
            <a:off x="1508760" y="2871215"/>
            <a:ext cx="9564624"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AFBFDA"/>
                </a:solidFill>
                <a:latin typeface="Segoe UI"/>
              </a:rPr>
              <a:t>Tuyển sinh và Đào tạo cùng chọn việc, xác nhận nguồn.</a:t>
            </a:r>
          </a:p>
        </p:txBody>
      </p:sp>
      <p:sp>
        <p:nvSpPr>
          <p:cNvPr id="13" name="Oval 12"/>
          <p:cNvSpPr/>
          <p:nvPr/>
        </p:nvSpPr>
        <p:spPr>
          <a:xfrm>
            <a:off x="722376" y="3438144"/>
            <a:ext cx="521207" cy="521207"/>
          </a:xfrm>
          <a:prstGeom prst="ellipse">
            <a:avLst/>
          </a:prstGeom>
          <a:solidFill>
            <a:srgbClr val="3048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22376" y="3438144"/>
            <a:ext cx="521207" cy="521207"/>
          </a:xfrm>
          <a:prstGeom prst="rect">
            <a:avLst/>
          </a:prstGeom>
          <a:noFill/>
        </p:spPr>
        <p:txBody>
          <a:bodyPr wrap="square" anchor="ctr" lIns="22860" rIns="22860" tIns="22860" bIns="22860">
            <a:spAutoFit/>
          </a:bodyPr>
          <a:lstStyle/>
          <a:p>
            <a:pPr algn="ctr">
              <a:lnSpc>
                <a:spcPct val="110000"/>
              </a:lnSpc>
              <a:spcAft>
                <a:spcPts val="0"/>
              </a:spcAft>
            </a:pPr>
            <a:r>
              <a:rPr sz="1800" b="1">
                <a:solidFill>
                  <a:srgbClr val="D7E5F8"/>
                </a:solidFill>
                <a:latin typeface="Segoe UI"/>
              </a:rPr>
              <a:t>02</a:t>
            </a:r>
          </a:p>
        </p:txBody>
      </p:sp>
      <p:sp>
        <p:nvSpPr>
          <p:cNvPr id="15" name="TextBox 14"/>
          <p:cNvSpPr txBox="1"/>
          <p:nvPr/>
        </p:nvSpPr>
        <p:spPr>
          <a:xfrm>
            <a:off x="1508760" y="3410712"/>
            <a:ext cx="9564624" cy="484632"/>
          </a:xfrm>
          <a:prstGeom prst="rect">
            <a:avLst/>
          </a:prstGeom>
          <a:noFill/>
        </p:spPr>
        <p:txBody>
          <a:bodyPr wrap="square" anchor="t" lIns="22860" rIns="22860" tIns="22860" bIns="22860">
            <a:spAutoFit/>
          </a:bodyPr>
          <a:lstStyle/>
          <a:p>
            <a:pPr algn="l">
              <a:lnSpc>
                <a:spcPct val="110000"/>
              </a:lnSpc>
              <a:spcAft>
                <a:spcPts val="0"/>
              </a:spcAft>
            </a:pPr>
            <a:r>
              <a:rPr sz="2500" b="1">
                <a:solidFill>
                  <a:srgbClr val="FFFFFF"/>
                </a:solidFill>
                <a:latin typeface="Segoe UI"/>
              </a:rPr>
              <a:t>Một phạm vi dữ liệu được duyệt</a:t>
            </a:r>
          </a:p>
        </p:txBody>
      </p:sp>
      <p:sp>
        <p:nvSpPr>
          <p:cNvPr id="16" name="TextBox 15"/>
          <p:cNvSpPr txBox="1"/>
          <p:nvPr/>
        </p:nvSpPr>
        <p:spPr>
          <a:xfrm>
            <a:off x="1508760" y="3995928"/>
            <a:ext cx="9564624"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AFBFDA"/>
                </a:solidFill>
                <a:latin typeface="Segoe UI"/>
              </a:rPr>
              <a:t>Bản sao chỉ đọc, quyền sử dụng và tài khoản dịch vụ rõ ràng.</a:t>
            </a:r>
          </a:p>
        </p:txBody>
      </p:sp>
      <p:sp>
        <p:nvSpPr>
          <p:cNvPr id="17" name="Oval 16"/>
          <p:cNvSpPr/>
          <p:nvPr/>
        </p:nvSpPr>
        <p:spPr>
          <a:xfrm>
            <a:off x="722376" y="4562856"/>
            <a:ext cx="521207" cy="521207"/>
          </a:xfrm>
          <a:prstGeom prst="ellipse">
            <a:avLst/>
          </a:prstGeom>
          <a:solidFill>
            <a:srgbClr val="3048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22376" y="4562856"/>
            <a:ext cx="521207" cy="521207"/>
          </a:xfrm>
          <a:prstGeom prst="rect">
            <a:avLst/>
          </a:prstGeom>
          <a:noFill/>
        </p:spPr>
        <p:txBody>
          <a:bodyPr wrap="square" anchor="ctr" lIns="22860" rIns="22860" tIns="22860" bIns="22860">
            <a:spAutoFit/>
          </a:bodyPr>
          <a:lstStyle/>
          <a:p>
            <a:pPr algn="ctr">
              <a:lnSpc>
                <a:spcPct val="110000"/>
              </a:lnSpc>
              <a:spcAft>
                <a:spcPts val="0"/>
              </a:spcAft>
            </a:pPr>
            <a:r>
              <a:rPr sz="1800" b="1">
                <a:solidFill>
                  <a:srgbClr val="D7E5F8"/>
                </a:solidFill>
                <a:latin typeface="Segoe UI"/>
              </a:rPr>
              <a:t>03</a:t>
            </a:r>
          </a:p>
        </p:txBody>
      </p:sp>
      <p:sp>
        <p:nvSpPr>
          <p:cNvPr id="19" name="TextBox 18"/>
          <p:cNvSpPr txBox="1"/>
          <p:nvPr/>
        </p:nvSpPr>
        <p:spPr>
          <a:xfrm>
            <a:off x="1508760" y="4535424"/>
            <a:ext cx="9564624" cy="484632"/>
          </a:xfrm>
          <a:prstGeom prst="rect">
            <a:avLst/>
          </a:prstGeom>
          <a:noFill/>
        </p:spPr>
        <p:txBody>
          <a:bodyPr wrap="square" anchor="t" lIns="22860" rIns="22860" tIns="22860" bIns="22860">
            <a:spAutoFit/>
          </a:bodyPr>
          <a:lstStyle/>
          <a:p>
            <a:pPr algn="l">
              <a:lnSpc>
                <a:spcPct val="110000"/>
              </a:lnSpc>
              <a:spcAft>
                <a:spcPts val="0"/>
              </a:spcAft>
            </a:pPr>
            <a:r>
              <a:rPr sz="2500" b="1">
                <a:solidFill>
                  <a:srgbClr val="FFFFFF"/>
                </a:solidFill>
                <a:latin typeface="Segoe UI"/>
              </a:rPr>
              <a:t>Một bộ câu hỏi nghiệm thu mới</a:t>
            </a:r>
          </a:p>
        </p:txBody>
      </p:sp>
      <p:sp>
        <p:nvSpPr>
          <p:cNvPr id="20" name="TextBox 19"/>
          <p:cNvSpPr txBox="1"/>
          <p:nvPr/>
        </p:nvSpPr>
        <p:spPr>
          <a:xfrm>
            <a:off x="1508760" y="5120640"/>
            <a:ext cx="9564624"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AFBFDA"/>
                </a:solidFill>
                <a:latin typeface="Segoe UI"/>
              </a:rPr>
              <a:t>Có đáp án hoặc tiêu chí do cán bộ chuyên môn xác nhận.</a:t>
            </a:r>
          </a:p>
        </p:txBody>
      </p:sp>
      <p:sp>
        <p:nvSpPr>
          <p:cNvPr id="21" name="TextBox 20"/>
          <p:cNvSpPr txBox="1"/>
          <p:nvPr/>
        </p:nvSpPr>
        <p:spPr>
          <a:xfrm>
            <a:off x="749808" y="5907024"/>
            <a:ext cx="10744200" cy="320040"/>
          </a:xfrm>
          <a:prstGeom prst="rect">
            <a:avLst/>
          </a:prstGeom>
          <a:noFill/>
        </p:spPr>
        <p:txBody>
          <a:bodyPr wrap="square" anchor="t" lIns="22860" rIns="22860" tIns="22860" bIns="22860">
            <a:spAutoFit/>
          </a:bodyPr>
          <a:lstStyle/>
          <a:p>
            <a:pPr algn="l">
              <a:lnSpc>
                <a:spcPct val="110000"/>
              </a:lnSpc>
              <a:spcAft>
                <a:spcPts val="0"/>
              </a:spcAft>
            </a:pPr>
            <a:r>
              <a:rPr sz="2100" b="1">
                <a:solidFill>
                  <a:srgbClr val="A8C8F2"/>
                </a:solidFill>
                <a:latin typeface="Segoe UI"/>
              </a:rPr>
              <a:t>Bắt đầu từ công việc cụ thể. Đo được giá trị trước khi mở rộng.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ẢNH MINH CHỨNG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B1 · Kết quả Tổng hợp đã lưu để dự phòng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16</a:t>
            </a:r>
          </a:p>
        </p:txBody>
      </p:sp>
      <p:sp>
        <p:nvSpPr>
          <p:cNvPr id="9" name="Rounded Rectangle 8"/>
          <p:cNvSpPr/>
          <p:nvPr/>
        </p:nvSpPr>
        <p:spPr>
          <a:xfrm>
            <a:off x="2833725" y="2034539"/>
            <a:ext cx="6530644" cy="4105656"/>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answer-principal.png"/>
          <p:cNvPicPr>
            <a:picLocks noChangeAspect="1"/>
          </p:cNvPicPr>
          <p:nvPr/>
        </p:nvPicPr>
        <p:blipFill>
          <a:blip r:embed="rId3"/>
          <a:stretch>
            <a:fillRect/>
          </a:stretch>
        </p:blipFill>
        <p:spPr>
          <a:xfrm>
            <a:off x="2865729" y="2066543"/>
            <a:ext cx="6466636" cy="4041648"/>
          </a:xfrm>
          <a:prstGeom prst="rect">
            <a:avLst/>
          </a:prstGeom>
        </p:spPr>
      </p:pic>
      <p:sp>
        <p:nvSpPr>
          <p:cNvPr id="11" name="TextBox 10"/>
          <p:cNvSpPr txBox="1"/>
          <p:nvPr/>
        </p:nvSpPr>
        <p:spPr>
          <a:xfrm>
            <a:off x="731520" y="6199631"/>
            <a:ext cx="10735056" cy="411480"/>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Ảnh kết quả từ hồ sơ 29/9/2026 · Văn bản công khai + số liệu nghiệp vụ giả lập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GIẢI ĐÁP VỀ KIẾN TRÚC</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B2 · AI Tổng hợp nhận gì và không nhận gì?</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17</a:t>
            </a:r>
          </a:p>
        </p:txBody>
      </p:sp>
      <p:sp>
        <p:nvSpPr>
          <p:cNvPr id="9" name="Rounded Rectangle 8"/>
          <p:cNvSpPr/>
          <p:nvPr/>
        </p:nvSpPr>
        <p:spPr>
          <a:xfrm>
            <a:off x="731520" y="2286000"/>
            <a:ext cx="10725912" cy="68580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50976" y="2432304"/>
            <a:ext cx="3392424" cy="384048"/>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Lập kế hoạch</a:t>
            </a:r>
          </a:p>
        </p:txBody>
      </p:sp>
      <p:sp>
        <p:nvSpPr>
          <p:cNvPr id="11" name="TextBox 10"/>
          <p:cNvSpPr txBox="1"/>
          <p:nvPr/>
        </p:nvSpPr>
        <p:spPr>
          <a:xfrm>
            <a:off x="4617720" y="2432304"/>
            <a:ext cx="6492240"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23364F"/>
                </a:solidFill>
                <a:latin typeface="Segoe UI"/>
              </a:rPr>
              <a:t>Yêu cầu + mô tả năng lực các AI con</a:t>
            </a:r>
          </a:p>
        </p:txBody>
      </p:sp>
      <p:sp>
        <p:nvSpPr>
          <p:cNvPr id="12" name="Rounded Rectangle 11"/>
          <p:cNvSpPr/>
          <p:nvPr/>
        </p:nvSpPr>
        <p:spPr>
          <a:xfrm>
            <a:off x="731520" y="3118104"/>
            <a:ext cx="10725912" cy="68580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50976" y="3264408"/>
            <a:ext cx="3392424" cy="384048"/>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AI con trả về</a:t>
            </a:r>
          </a:p>
        </p:txBody>
      </p:sp>
      <p:sp>
        <p:nvSpPr>
          <p:cNvPr id="14" name="TextBox 13"/>
          <p:cNvSpPr txBox="1"/>
          <p:nvPr/>
        </p:nvSpPr>
        <p:spPr>
          <a:xfrm>
            <a:off x="4617720" y="3264408"/>
            <a:ext cx="6492240"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23364F"/>
                </a:solidFill>
                <a:latin typeface="Segoe UI"/>
              </a:rPr>
              <a:t>Báo cáo + nguồn dẫn + số liệu đã nghiệm thu</a:t>
            </a:r>
          </a:p>
        </p:txBody>
      </p:sp>
      <p:sp>
        <p:nvSpPr>
          <p:cNvPr id="15" name="Rounded Rectangle 14"/>
          <p:cNvSpPr/>
          <p:nvPr/>
        </p:nvSpPr>
        <p:spPr>
          <a:xfrm>
            <a:off x="731520" y="3950208"/>
            <a:ext cx="10725912" cy="68580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50976" y="4096512"/>
            <a:ext cx="3392424" cy="384048"/>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Phân tích</a:t>
            </a:r>
          </a:p>
        </p:txBody>
      </p:sp>
      <p:sp>
        <p:nvSpPr>
          <p:cNvPr id="17" name="TextBox 16"/>
          <p:cNvSpPr txBox="1"/>
          <p:nvPr/>
        </p:nvSpPr>
        <p:spPr>
          <a:xfrm>
            <a:off x="4617720" y="4096512"/>
            <a:ext cx="6492240"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23364F"/>
                </a:solidFill>
                <a:latin typeface="Segoe UI"/>
              </a:rPr>
              <a:t>Kết quả tác vụ trước; phép tính do code thực hiện</a:t>
            </a:r>
          </a:p>
        </p:txBody>
      </p:sp>
      <p:sp>
        <p:nvSpPr>
          <p:cNvPr id="18" name="Rounded Rectangle 17"/>
          <p:cNvSpPr/>
          <p:nvPr/>
        </p:nvSpPr>
        <p:spPr>
          <a:xfrm>
            <a:off x="731520" y="4782312"/>
            <a:ext cx="10725912" cy="68580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50976" y="4928616"/>
            <a:ext cx="3392424" cy="384048"/>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Kho trực tiếp của Tổng hợp</a:t>
            </a:r>
          </a:p>
        </p:txBody>
      </p:sp>
      <p:sp>
        <p:nvSpPr>
          <p:cNvPr id="20" name="TextBox 19"/>
          <p:cNvSpPr txBox="1"/>
          <p:nvPr/>
        </p:nvSpPr>
        <p:spPr>
          <a:xfrm>
            <a:off x="4617720" y="4928616"/>
            <a:ext cx="6492240" cy="384048"/>
          </a:xfrm>
          <a:prstGeom prst="rect">
            <a:avLst/>
          </a:prstGeom>
          <a:noFill/>
        </p:spPr>
        <p:txBody>
          <a:bodyPr wrap="square" anchor="t" lIns="22860" rIns="22860" tIns="22860" bIns="22860">
            <a:spAutoFit/>
          </a:bodyPr>
          <a:lstStyle/>
          <a:p>
            <a:pPr algn="l">
              <a:lnSpc>
                <a:spcPct val="110000"/>
              </a:lnSpc>
              <a:spcAft>
                <a:spcPts val="0"/>
              </a:spcAft>
            </a:pPr>
            <a:r>
              <a:rPr sz="1800" b="0">
                <a:solidFill>
                  <a:srgbClr val="23364F"/>
                </a:solidFill>
                <a:latin typeface="Segoe UI"/>
              </a:rPr>
              <a:t>0 tài liệu · không gắn DataStore</a:t>
            </a:r>
          </a:p>
        </p:txBody>
      </p:sp>
      <p:sp>
        <p:nvSpPr>
          <p:cNvPr id="21" name="TextBox 20"/>
          <p:cNvSpPr txBox="1"/>
          <p:nvPr/>
        </p:nvSpPr>
        <p:spPr>
          <a:xfrm>
            <a:off x="795528" y="5888736"/>
            <a:ext cx="10643616" cy="310896"/>
          </a:xfrm>
          <a:prstGeom prst="rect">
            <a:avLst/>
          </a:prstGeom>
          <a:noFill/>
        </p:spPr>
        <p:txBody>
          <a:bodyPr wrap="square" anchor="t" lIns="22860" rIns="22860" tIns="22860" bIns="22860">
            <a:spAutoFit/>
          </a:bodyPr>
          <a:lstStyle/>
          <a:p>
            <a:pPr algn="l">
              <a:lnSpc>
                <a:spcPct val="110000"/>
              </a:lnSpc>
              <a:spcAft>
                <a:spcPts val="0"/>
              </a:spcAft>
            </a:pPr>
            <a:r>
              <a:rPr sz="1500" b="0">
                <a:solidFill>
                  <a:srgbClr val="687A91"/>
                </a:solidFill>
                <a:latin typeface="Segoe UI"/>
              </a:rPr>
              <a:t>Bằng chứng có trong mã nguồn, kế hoạch tác vụ, sự kiện AI con và sổ ghi lời gọi.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sp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sp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spAutoFit/>
          </a:bodyPr>
          <a:lstStyle/>
          <a:p>
            <a:pPr algn="l">
              <a:lnSpc>
                <a:spcPct val="110000"/>
              </a:lnSpc>
              <a:spcAft>
                <a:spcPts val="0"/>
              </a:spcAft>
            </a:pPr>
            <a:r>
              <a:rPr sz="1100" b="1">
                <a:solidFill>
                  <a:srgbClr val="245BBA"/>
                </a:solidFill>
                <a:latin typeface="Segoe UI"/>
              </a:rPr>
              <a:t>PHỤ LỤC CHO NGƯỜI XEM KỸ THUẬT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spAutoFit/>
          </a:bodyPr>
          <a:lstStyle/>
          <a:p>
            <a:pPr algn="l">
              <a:lnSpc>
                <a:spcPct val="110000"/>
              </a:lnSpc>
              <a:spcAft>
                <a:spcPts val="0"/>
              </a:spcAft>
            </a:pPr>
            <a:r>
              <a:rPr sz="3100" b="1">
                <a:solidFill>
                  <a:srgbClr val="23364F"/>
                </a:solidFill>
                <a:latin typeface="Segoe UI"/>
              </a:rPr>
              <a:t>B3 · Căn cứ nội dung và cách kiểm chứng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spAutoFit/>
          </a:bodyPr>
          <a:lstStyle/>
          <a:p>
            <a:pPr algn="l">
              <a:lnSpc>
                <a:spcPct val="110000"/>
              </a:lnSpc>
              <a:spcAft>
                <a:spcPts val="0"/>
              </a:spcAft>
            </a:pPr>
            <a:r>
              <a:rPr sz="1000" b="0">
                <a:solidFill>
                  <a:srgbClr val="687A91"/>
                </a:solidFill>
                <a:latin typeface="Segoe UI"/>
              </a:rPr>
              <a:t>Credere · Bản thử nghiệm nghiệp vụ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spAutoFit/>
          </a:bodyPr>
          <a:lstStyle/>
          <a:p>
            <a:pPr algn="r">
              <a:lnSpc>
                <a:spcPct val="110000"/>
              </a:lnSpc>
              <a:spcAft>
                <a:spcPts val="0"/>
              </a:spcAft>
            </a:pPr>
            <a:r>
              <a:rPr sz="1200" b="0">
                <a:solidFill>
                  <a:srgbClr val="687A91"/>
                </a:solidFill>
                <a:latin typeface="Segoe UI"/>
              </a:rPr>
              <a:t>18</a:t>
            </a:r>
          </a:p>
        </p:txBody>
      </p:sp>
      <p:sp>
        <p:nvSpPr>
          <p:cNvPr id="9" name="TextBox 8"/>
          <p:cNvSpPr txBox="1"/>
          <p:nvPr/>
        </p:nvSpPr>
        <p:spPr>
          <a:xfrm>
            <a:off x="768096" y="2322576"/>
            <a:ext cx="3108960"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Cơ chế giao việc</a:t>
            </a:r>
          </a:p>
        </p:txBody>
      </p:sp>
      <p:sp>
        <p:nvSpPr>
          <p:cNvPr id="10" name="TextBox 9"/>
          <p:cNvSpPr txBox="1"/>
          <p:nvPr/>
        </p:nvSpPr>
        <p:spPr>
          <a:xfrm>
            <a:off x="3749039" y="2322576"/>
            <a:ext cx="7680960" cy="493776"/>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23364F"/>
                </a:solidFill>
                <a:latin typeface="Segoe UI"/>
              </a:rPr>
              <a:t>backend/app/apps.py · workers.py · graph.py</a:t>
            </a:r>
          </a:p>
        </p:txBody>
      </p:sp>
      <p:cxnSp>
        <p:nvCxnSpPr>
          <p:cNvPr id="11" name="Connector 10"/>
          <p:cNvCxnSpPr/>
          <p:nvPr/>
        </p:nvCxnSpPr>
        <p:spPr>
          <a:xfrm>
            <a:off x="768096" y="2907792"/>
            <a:ext cx="1059789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68096" y="3108960"/>
            <a:ext cx="3108960"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Dữ liệu và truy vấn</a:t>
            </a:r>
          </a:p>
        </p:txBody>
      </p:sp>
      <p:sp>
        <p:nvSpPr>
          <p:cNvPr id="13" name="TextBox 12"/>
          <p:cNvSpPr txBox="1"/>
          <p:nvPr/>
        </p:nvSpPr>
        <p:spPr>
          <a:xfrm>
            <a:off x="3749039" y="3108960"/>
            <a:ext cx="7680960" cy="493776"/>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23364F"/>
                </a:solidFill>
                <a:latin typeface="Segoe UI"/>
              </a:rPr>
              <a:t>backend/app/domains/ · tools/data.py</a:t>
            </a:r>
          </a:p>
        </p:txBody>
      </p:sp>
      <p:cxnSp>
        <p:nvCxnSpPr>
          <p:cNvPr id="14" name="Connector 13"/>
          <p:cNvCxnSpPr/>
          <p:nvPr/>
        </p:nvCxnSpPr>
        <p:spPr>
          <a:xfrm>
            <a:off x="768096" y="3694176"/>
            <a:ext cx="1059789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68096" y="3895344"/>
            <a:ext cx="3108960"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Kết quả đã lưu</a:t>
            </a:r>
          </a:p>
        </p:txBody>
      </p:sp>
      <p:sp>
        <p:nvSpPr>
          <p:cNvPr id="16" name="TextBox 15"/>
          <p:cNvSpPr txBox="1"/>
          <p:nvPr/>
        </p:nvSpPr>
        <p:spPr>
          <a:xfrm>
            <a:off x="3749039" y="3895344"/>
            <a:ext cx="7680960" cy="493776"/>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23364F"/>
                </a:solidFill>
                <a:latin typeface="Segoe UI"/>
              </a:rPr>
              <a:t>eval-20260929-0149 · du-lieu-20260929-0138 · tong-hop-20260929-0156</a:t>
            </a:r>
          </a:p>
        </p:txBody>
      </p:sp>
      <p:cxnSp>
        <p:nvCxnSpPr>
          <p:cNvPr id="17" name="Connector 16"/>
          <p:cNvCxnSpPr/>
          <p:nvPr/>
        </p:nvCxnSpPr>
        <p:spPr>
          <a:xfrm>
            <a:off x="768096" y="4480559"/>
            <a:ext cx="1059789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68096" y="4681728"/>
            <a:ext cx="3108960" cy="411480"/>
          </a:xfrm>
          <a:prstGeom prst="rect">
            <a:avLst/>
          </a:prstGeom>
          <a:noFill/>
        </p:spPr>
        <p:txBody>
          <a:bodyPr wrap="square" anchor="t" lIns="22860" rIns="22860" tIns="22860" bIns="22860">
            <a:spAutoFit/>
          </a:bodyPr>
          <a:lstStyle/>
          <a:p>
            <a:pPr algn="l">
              <a:lnSpc>
                <a:spcPct val="110000"/>
              </a:lnSpc>
              <a:spcAft>
                <a:spcPts val="0"/>
              </a:spcAft>
            </a:pPr>
            <a:r>
              <a:rPr sz="1800" b="1">
                <a:solidFill>
                  <a:srgbClr val="245BBA"/>
                </a:solidFill>
                <a:latin typeface="Segoe UI"/>
              </a:rPr>
              <a:t>Hồ sơ bài trình bày</a:t>
            </a:r>
          </a:p>
        </p:txBody>
      </p:sp>
      <p:sp>
        <p:nvSpPr>
          <p:cNvPr id="19" name="TextBox 18"/>
          <p:cNvSpPr txBox="1"/>
          <p:nvPr/>
        </p:nvSpPr>
        <p:spPr>
          <a:xfrm>
            <a:off x="3749039" y="4681728"/>
            <a:ext cx="7680960" cy="493776"/>
          </a:xfrm>
          <a:prstGeom prst="rect">
            <a:avLst/>
          </a:prstGeom>
          <a:noFill/>
        </p:spPr>
        <p:txBody>
          <a:bodyPr wrap="square" anchor="t" lIns="22860" rIns="22860" tIns="22860" bIns="22860">
            <a:spAutoFit/>
          </a:bodyPr>
          <a:lstStyle/>
          <a:p>
            <a:pPr algn="l">
              <a:lnSpc>
                <a:spcPct val="110000"/>
              </a:lnSpc>
              <a:spcAft>
                <a:spcPts val="0"/>
              </a:spcAft>
            </a:pPr>
            <a:r>
              <a:rPr sz="1600" b="0">
                <a:solidFill>
                  <a:srgbClr val="23364F"/>
                </a:solidFill>
                <a:latin typeface="Segoe UI"/>
              </a:rPr>
              <a:t>CONTENT_FACTS.json · shots/current/screenshots.json · Notes của từng slide</a:t>
            </a:r>
          </a:p>
        </p:txBody>
      </p:sp>
      <p:cxnSp>
        <p:nvCxnSpPr>
          <p:cNvPr id="20" name="Connector 19"/>
          <p:cNvCxnSpPr/>
          <p:nvPr/>
        </p:nvCxnSpPr>
        <p:spPr>
          <a:xfrm>
            <a:off x="768096" y="5266944"/>
            <a:ext cx="1059789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77240" y="5724144"/>
            <a:ext cx="10515600" cy="365760"/>
          </a:xfrm>
          <a:prstGeom prst="rect">
            <a:avLst/>
          </a:prstGeom>
          <a:noFill/>
        </p:spPr>
        <p:txBody>
          <a:bodyPr wrap="square" anchor="t" lIns="22860" rIns="22860" tIns="22860" bIns="22860">
            <a:spAutoFit/>
          </a:bodyPr>
          <a:lstStyle/>
          <a:p>
            <a:pPr algn="l">
              <a:lnSpc>
                <a:spcPct val="110000"/>
              </a:lnSpc>
              <a:spcAft>
                <a:spcPts val="0"/>
              </a:spcAft>
            </a:pPr>
            <a:r>
              <a:rPr sz="1300" b="0">
                <a:solidFill>
                  <a:srgbClr val="687A91"/>
                </a:solidFill>
                <a:latin typeface="Segoe UI"/>
              </a:rPr>
              <a:t>Cập nhật theo code và dữ liệu đang có ngày 29/9/2026. Không chứa mật khẩu hoặc khóa kết nối.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Credere — Trợ lý AI phối hợp cho Trường Đại học Nghệ An</dc:title>
  <dc:subject>Bản demo hiện tại, cơ chế giao việc và đề xuất thử nghiệm có kiểm soát</dc:subject>
  <dc:creator>Nhóm đề tài Credere</dc:creator>
  <cp:keywords>Credere, NAU, tuyển sinh, đào tạo, đa tác tử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